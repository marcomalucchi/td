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83" r:id="rId2"/>
    <p:sldId id="280" r:id="rId3"/>
    <p:sldId id="285" r:id="rId4"/>
    <p:sldId id="286" r:id="rId5"/>
    <p:sldId id="288" r:id="rId6"/>
    <p:sldId id="287" r:id="rId7"/>
    <p:sldId id="289" r:id="rId8"/>
    <p:sldId id="256" r:id="rId9"/>
    <p:sldId id="261" r:id="rId10"/>
    <p:sldId id="257" r:id="rId11"/>
    <p:sldId id="258" r:id="rId12"/>
    <p:sldId id="259" r:id="rId13"/>
    <p:sldId id="260" r:id="rId14"/>
    <p:sldId id="263" r:id="rId15"/>
    <p:sldId id="264" r:id="rId16"/>
    <p:sldId id="265" r:id="rId17"/>
    <p:sldId id="267" r:id="rId18"/>
    <p:sldId id="268" r:id="rId19"/>
    <p:sldId id="269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4B922A"/>
    <a:srgbClr val="7493DA"/>
    <a:srgbClr val="919191"/>
    <a:srgbClr val="4A9129"/>
    <a:srgbClr val="7030A0"/>
    <a:srgbClr val="73A9DB"/>
    <a:srgbClr val="CD0000"/>
    <a:srgbClr val="F1CC9F"/>
    <a:srgbClr val="0F4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5134" autoAdjust="0"/>
  </p:normalViewPr>
  <p:slideViewPr>
    <p:cSldViewPr snapToGrid="0">
      <p:cViewPr>
        <p:scale>
          <a:sx n="100" d="100"/>
          <a:sy n="100" d="100"/>
        </p:scale>
        <p:origin x="402" y="31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50CAD-68EB-4E1E-B723-4BE45A6CD698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631E5-347A-4BD6-85BF-0ABDE8546D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823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574A-CEF8-4600-9BE9-2409CE34A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1A383-49D8-4371-9952-12C95F0B2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CAC94-CE6E-4358-A8EC-BB9A15A5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D1ED-B7B4-48FC-9078-69E640C03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D6429-05C6-4E68-8D77-6372B92E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arallelogramma 5">
            <a:extLst>
              <a:ext uri="{FF2B5EF4-FFF2-40B4-BE49-F238E27FC236}">
                <a16:creationId xmlns:a16="http://schemas.microsoft.com/office/drawing/2014/main" id="{0075335B-478C-4B21-9953-C9F787B964D9}"/>
              </a:ext>
            </a:extLst>
          </p:cNvPr>
          <p:cNvSpPr/>
          <p:nvPr userDrawn="1"/>
        </p:nvSpPr>
        <p:spPr>
          <a:xfrm>
            <a:off x="-318798" y="6369229"/>
            <a:ext cx="11672598" cy="481338"/>
          </a:xfrm>
          <a:prstGeom prst="parallelogram">
            <a:avLst/>
          </a:prstGeom>
          <a:solidFill>
            <a:srgbClr val="0F40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rgbClr val="0F406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0A8CCD-F613-428A-B938-D361FE096B22}"/>
              </a:ext>
            </a:extLst>
          </p:cNvPr>
          <p:cNvSpPr txBox="1"/>
          <p:nvPr userDrawn="1"/>
        </p:nvSpPr>
        <p:spPr>
          <a:xfrm>
            <a:off x="70390" y="6382480"/>
            <a:ext cx="3704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</a:rPr>
              <a:t>Tecnologie </a:t>
            </a:r>
            <a:r>
              <a:rPr lang="it-IT" sz="2400" b="1">
                <a:solidFill>
                  <a:schemeClr val="bg1"/>
                </a:solidFill>
              </a:rPr>
              <a:t>Digitali AA25/26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F6A18B7-8044-6B95-0CCE-365D240A6D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67073" y="6173030"/>
            <a:ext cx="687853" cy="64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45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D28D-4FA5-4562-9054-7BD80D40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CC42B-E541-4107-AAC3-56D0E2FF4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AFF54-2A50-4114-8E49-B1FAD627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50DF1-4F9B-47A4-B7F9-59E0C5C0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4F4D6-46E9-4FC6-9B07-57B678AA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6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2084-B5C2-45E4-84D4-870AB85C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28BB0-C3DA-4098-83FC-89EB67CE6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E90C4-E2C7-43B1-B605-BB1EBD61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140EC-2205-4C4B-B591-0B974250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40F65-3515-4F79-A3C5-28546297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26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E785-D54D-4499-AA9F-E1E28CB4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E3CDF-D95C-4562-8114-ECF7E92A7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4A6AE-E7E9-4EFF-B0DF-63069FF92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7B53B-EAD5-43B2-A635-452CDB53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1D898-7A9F-4FDF-8B16-01723B27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2C57B-FDD4-462F-95AA-F959EA074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0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0E04E-D5C3-4E5D-B5B7-855CEE94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DEA8D-ADC4-4C6A-849D-860674354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FDF92-44E0-4C37-BF1C-17456FE0A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61BFD-AB01-43FF-9D6C-F25EB992B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C755E-F274-4106-8FBE-3949E96B2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533A2-8FF7-4271-9FB7-3B708BE84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BD3D1-151C-4F12-9579-4FD3A4F1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0FC73-BF34-45D1-9159-D9C184CB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1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D3A7-33B3-4468-BDC1-C9B1E6B8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2C7D8-CAB5-4FF2-A951-AAC1F001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56DD0-711C-4A4F-8BB0-BECE2B28B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B4BD2-CF15-4BED-BE67-937C38E4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4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53D6E0-695F-45D8-B3E4-FA99CD00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FCA78-B054-4997-81B2-8DCA2980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39045-9756-4C4A-AE76-E23AD6A0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6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5316-9941-41A5-BF98-04402FC50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8C9C9-C74D-46E7-A87C-9C01BB1D7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52464-DBA0-459D-B92D-C0876D74E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EDD7D-C9FB-49C6-8661-B3F8D456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F382B-F621-45FD-AFAC-1D0628DF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FE5D6-816B-4F94-A63D-F36129EF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089C-1DF9-4274-8317-0944416E7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4D992-4414-432C-9016-88F4C6221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8FBEF-8DD9-4E9F-8D0A-188A62DA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C038B-CA0D-444B-B614-CDA90D58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93223-44F8-4A60-AF9F-BBA75472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401D2-C258-4231-A3DF-963CD119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3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F081-CB98-4D8D-8DA8-44081ADC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D6263-9129-4B1C-B156-F2FF04A51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55EE3-D30E-4F97-B393-93EEED05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BD756-84CC-461B-A123-E6EDA151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B2352-8449-44E0-BFF2-E4ADA157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8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F23E3-EA16-414B-B801-E7FA00339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243F0-6FEA-48F7-8B19-1FE77B573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FC2D1-E1A7-4486-BBA5-6361BC4F6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4A99E-004D-4DC1-9646-96B58F943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A7695-28F4-49A1-B52C-E7C7FB83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0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DD719-7ECC-4793-8CAC-CEC1143E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32E6F-1639-4BD5-B656-FC0599E17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3AC55-ECB4-4F35-8BE7-2300D7AED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2867F-0706-4BFF-B137-E93A43F2FE1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234C4-DEC0-4907-92D7-302BCDC1C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B3BFA-C1A2-448D-827E-124D2602C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ADFBF-F37A-48B7-AEE2-587049459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1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5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12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9.png"/><Relationship Id="rId7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5.png"/><Relationship Id="rId4" Type="http://schemas.openxmlformats.org/officeDocument/2006/relationships/image" Target="../media/image3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4.png"/><Relationship Id="rId7" Type="http://schemas.openxmlformats.org/officeDocument/2006/relationships/image" Target="../media/image3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5.png"/><Relationship Id="rId7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7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30.png"/><Relationship Id="rId7" Type="http://schemas.openxmlformats.org/officeDocument/2006/relationships/image" Target="../media/image3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8.png"/><Relationship Id="rId4" Type="http://schemas.openxmlformats.org/officeDocument/2006/relationships/image" Target="../media/image4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" name="Picture 19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455AD322-C6A7-7EE3-6F63-F8F969BFD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85" y="2668739"/>
            <a:ext cx="2775935" cy="33046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5ADDBD-83BE-448D-7B18-2DF6F9C99C09}"/>
              </a:ext>
            </a:extLst>
          </p:cNvPr>
          <p:cNvSpPr txBox="1"/>
          <p:nvPr/>
        </p:nvSpPr>
        <p:spPr>
          <a:xfrm>
            <a:off x="296599" y="1702033"/>
            <a:ext cx="28068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1° </a:t>
            </a:r>
            <a:r>
              <a:rPr lang="en-US" sz="2400" b="1" dirty="0" err="1"/>
              <a:t>legge</a:t>
            </a:r>
            <a:r>
              <a:rPr lang="en-US" sz="2400" b="1" dirty="0"/>
              <a:t> di Kirchhoff </a:t>
            </a:r>
          </a:p>
          <a:p>
            <a:r>
              <a:rPr lang="en-US" sz="2400" b="1" dirty="0"/>
              <a:t>(</a:t>
            </a:r>
            <a:r>
              <a:rPr lang="en-US" sz="2400" b="1" dirty="0" err="1"/>
              <a:t>legge</a:t>
            </a:r>
            <a:r>
              <a:rPr lang="en-US" sz="2400" b="1" dirty="0"/>
              <a:t> </a:t>
            </a:r>
            <a:r>
              <a:rPr lang="en-US" sz="2400" b="1" dirty="0" err="1"/>
              <a:t>dei</a:t>
            </a:r>
            <a:r>
              <a:rPr lang="en-US" sz="2400" b="1" dirty="0"/>
              <a:t> nodi)</a:t>
            </a:r>
            <a:endParaRPr lang="en-GB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02608-9819-53F7-A6EC-93A117DB888E}"/>
              </a:ext>
            </a:extLst>
          </p:cNvPr>
          <p:cNvSpPr txBox="1"/>
          <p:nvPr/>
        </p:nvSpPr>
        <p:spPr>
          <a:xfrm>
            <a:off x="4430717" y="871036"/>
            <a:ext cx="28068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2° </a:t>
            </a:r>
            <a:r>
              <a:rPr lang="en-US" sz="2400" b="1" dirty="0" err="1"/>
              <a:t>legge</a:t>
            </a:r>
            <a:r>
              <a:rPr lang="en-US" sz="2400" b="1" dirty="0"/>
              <a:t> di Kirchhoff </a:t>
            </a:r>
          </a:p>
          <a:p>
            <a:r>
              <a:rPr lang="en-US" sz="2400" b="1" dirty="0"/>
              <a:t>(</a:t>
            </a:r>
            <a:r>
              <a:rPr lang="en-US" sz="2400" b="1" dirty="0" err="1"/>
              <a:t>legge</a:t>
            </a:r>
            <a:r>
              <a:rPr lang="en-US" sz="2400" b="1" dirty="0"/>
              <a:t> </a:t>
            </a:r>
            <a:r>
              <a:rPr lang="en-US" sz="2400" b="1" dirty="0" err="1"/>
              <a:t>delle</a:t>
            </a:r>
            <a:r>
              <a:rPr lang="en-US" sz="2400" b="1" dirty="0"/>
              <a:t> </a:t>
            </a:r>
            <a:r>
              <a:rPr lang="en-US" sz="2400" b="1" dirty="0" err="1"/>
              <a:t>maglie</a:t>
            </a:r>
            <a:r>
              <a:rPr lang="en-US" sz="2400" b="1" dirty="0"/>
              <a:t>)</a:t>
            </a:r>
            <a:endParaRPr lang="en-GB" sz="2400" b="1" dirty="0"/>
          </a:p>
        </p:txBody>
      </p:sp>
      <p:pic>
        <p:nvPicPr>
          <p:cNvPr id="4" name="Picture 3" descr="A diagram of a loop&#10;&#10;Description automatically generated">
            <a:extLst>
              <a:ext uri="{FF2B5EF4-FFF2-40B4-BE49-F238E27FC236}">
                <a16:creationId xmlns:a16="http://schemas.microsoft.com/office/drawing/2014/main" id="{C4F53065-24FB-11D1-F07D-91A5B908E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576" y="171913"/>
            <a:ext cx="4782897" cy="2612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C5A84-583D-E25B-B418-CD70D1607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894" y="2793987"/>
            <a:ext cx="3883354" cy="43816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A3F41B-8C27-7341-C62A-91055B8937D9}"/>
              </a:ext>
            </a:extLst>
          </p:cNvPr>
          <p:cNvSpPr/>
          <p:nvPr/>
        </p:nvSpPr>
        <p:spPr>
          <a:xfrm>
            <a:off x="7332956" y="3665100"/>
            <a:ext cx="3160450" cy="2308324"/>
          </a:xfrm>
          <a:prstGeom prst="roundRect">
            <a:avLst>
              <a:gd name="adj" fmla="val 8141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2A592-13EE-00D6-5362-D6F5A97B1442}"/>
              </a:ext>
            </a:extLst>
          </p:cNvPr>
          <p:cNvSpPr txBox="1"/>
          <p:nvPr/>
        </p:nvSpPr>
        <p:spPr>
          <a:xfrm>
            <a:off x="7508593" y="3777015"/>
            <a:ext cx="28146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Generatori</a:t>
            </a:r>
            <a:r>
              <a:rPr lang="en-US" b="1" dirty="0"/>
              <a:t>:</a:t>
            </a:r>
          </a:p>
          <a:p>
            <a:r>
              <a:rPr lang="en-US" dirty="0"/>
              <a:t>Loop e </a:t>
            </a:r>
            <a:r>
              <a:rPr lang="en-US" dirty="0" err="1"/>
              <a:t>corrente</a:t>
            </a:r>
            <a:r>
              <a:rPr lang="en-US" dirty="0"/>
              <a:t> </a:t>
            </a:r>
            <a:r>
              <a:rPr lang="en-US" dirty="0" err="1"/>
              <a:t>concordi</a:t>
            </a:r>
            <a:r>
              <a:rPr lang="en-US" dirty="0"/>
              <a:t>: </a:t>
            </a:r>
            <a:r>
              <a:rPr lang="en-US" b="1" dirty="0"/>
              <a:t>+</a:t>
            </a:r>
            <a:r>
              <a:rPr lang="en-US" dirty="0"/>
              <a:t> </a:t>
            </a:r>
          </a:p>
          <a:p>
            <a:r>
              <a:rPr lang="en-US" dirty="0"/>
              <a:t>Loop e </a:t>
            </a:r>
            <a:r>
              <a:rPr lang="en-US" dirty="0" err="1"/>
              <a:t>corrente</a:t>
            </a:r>
            <a:r>
              <a:rPr lang="en-US" dirty="0"/>
              <a:t> </a:t>
            </a:r>
            <a:r>
              <a:rPr lang="en-US" dirty="0" err="1"/>
              <a:t>discordi</a:t>
            </a:r>
            <a:r>
              <a:rPr lang="en-US" dirty="0"/>
              <a:t>: </a:t>
            </a:r>
            <a:r>
              <a:rPr lang="en-US" b="1" dirty="0"/>
              <a:t>-</a:t>
            </a:r>
          </a:p>
          <a:p>
            <a:endParaRPr lang="en-US" b="1" dirty="0"/>
          </a:p>
          <a:p>
            <a:r>
              <a:rPr lang="en-US" b="1" dirty="0" err="1"/>
              <a:t>Resistenze</a:t>
            </a:r>
            <a:r>
              <a:rPr lang="en-US" b="1" dirty="0"/>
              <a:t>:</a:t>
            </a:r>
          </a:p>
          <a:p>
            <a:r>
              <a:rPr lang="en-US" dirty="0"/>
              <a:t>Loop e </a:t>
            </a:r>
            <a:r>
              <a:rPr lang="en-US" dirty="0" err="1"/>
              <a:t>corrente</a:t>
            </a:r>
            <a:r>
              <a:rPr lang="en-US" dirty="0"/>
              <a:t> </a:t>
            </a:r>
            <a:r>
              <a:rPr lang="en-US" dirty="0" err="1"/>
              <a:t>concordi</a:t>
            </a:r>
            <a:r>
              <a:rPr lang="en-US" dirty="0"/>
              <a:t>: </a:t>
            </a:r>
            <a:r>
              <a:rPr lang="en-US" b="1" dirty="0"/>
              <a:t>-</a:t>
            </a:r>
            <a:r>
              <a:rPr lang="en-US" dirty="0"/>
              <a:t> </a:t>
            </a:r>
          </a:p>
          <a:p>
            <a:r>
              <a:rPr lang="en-US" dirty="0"/>
              <a:t>Loop e </a:t>
            </a:r>
            <a:r>
              <a:rPr lang="en-US" dirty="0" err="1"/>
              <a:t>corrente</a:t>
            </a:r>
            <a:r>
              <a:rPr lang="en-US" dirty="0"/>
              <a:t> </a:t>
            </a:r>
            <a:r>
              <a:rPr lang="en-US" dirty="0" err="1"/>
              <a:t>discordi</a:t>
            </a:r>
            <a:r>
              <a:rPr lang="en-US" dirty="0"/>
              <a:t>: </a:t>
            </a:r>
            <a:r>
              <a:rPr lang="en-US" b="1" dirty="0"/>
              <a:t>+</a:t>
            </a:r>
            <a:endParaRPr lang="en-GB" b="1" dirty="0"/>
          </a:p>
          <a:p>
            <a:endParaRPr lang="en-GB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E1D217-E4A7-BC70-FAD1-8D74E9616B73}"/>
              </a:ext>
            </a:extLst>
          </p:cNvPr>
          <p:cNvCxnSpPr/>
          <p:nvPr/>
        </p:nvCxnSpPr>
        <p:spPr>
          <a:xfrm>
            <a:off x="7785100" y="871036"/>
            <a:ext cx="6477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ADCB12-2957-9479-3898-CBA3F66EC85F}"/>
              </a:ext>
            </a:extLst>
          </p:cNvPr>
          <p:cNvCxnSpPr>
            <a:cxnSpLocks/>
          </p:cNvCxnSpPr>
          <p:nvPr/>
        </p:nvCxnSpPr>
        <p:spPr>
          <a:xfrm flipH="1">
            <a:off x="8877300" y="865772"/>
            <a:ext cx="6477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234F12-5BDC-3BD6-D4C4-85BA34589069}"/>
              </a:ext>
            </a:extLst>
          </p:cNvPr>
          <p:cNvCxnSpPr>
            <a:cxnSpLocks/>
          </p:cNvCxnSpPr>
          <p:nvPr/>
        </p:nvCxnSpPr>
        <p:spPr>
          <a:xfrm rot="5400000" flipH="1">
            <a:off x="10194956" y="1240422"/>
            <a:ext cx="6477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523CE0-D584-1FD8-6650-AE5F9E9856F9}"/>
              </a:ext>
            </a:extLst>
          </p:cNvPr>
          <p:cNvCxnSpPr/>
          <p:nvPr/>
        </p:nvCxnSpPr>
        <p:spPr>
          <a:xfrm>
            <a:off x="8921750" y="2147386"/>
            <a:ext cx="6477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5B075BE-6476-7DBE-0235-5B573FCD386F}"/>
              </a:ext>
            </a:extLst>
          </p:cNvPr>
          <p:cNvSpPr/>
          <p:nvPr/>
        </p:nvSpPr>
        <p:spPr>
          <a:xfrm>
            <a:off x="9845040" y="1897380"/>
            <a:ext cx="647700" cy="320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E3CBF4-88BB-70D4-45C3-E71046E17876}"/>
              </a:ext>
            </a:extLst>
          </p:cNvPr>
          <p:cNvSpPr txBox="1"/>
          <p:nvPr/>
        </p:nvSpPr>
        <p:spPr>
          <a:xfrm>
            <a:off x="10810376" y="154460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I</a:t>
            </a:r>
            <a:endParaRPr lang="en-GB" i="1" dirty="0"/>
          </a:p>
        </p:txBody>
      </p:sp>
      <p:sp>
        <p:nvSpPr>
          <p:cNvPr id="25" name="Triangolo isoscele 1">
            <a:extLst>
              <a:ext uri="{FF2B5EF4-FFF2-40B4-BE49-F238E27FC236}">
                <a16:creationId xmlns:a16="http://schemas.microsoft.com/office/drawing/2014/main" id="{EAE1EAB2-701D-61D2-3CF8-E214FF1A0080}"/>
              </a:ext>
            </a:extLst>
          </p:cNvPr>
          <p:cNvSpPr/>
          <p:nvPr/>
        </p:nvSpPr>
        <p:spPr>
          <a:xfrm rot="5400000">
            <a:off x="8492672" y="54313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riangolo isoscele 1">
            <a:extLst>
              <a:ext uri="{FF2B5EF4-FFF2-40B4-BE49-F238E27FC236}">
                <a16:creationId xmlns:a16="http://schemas.microsoft.com/office/drawing/2014/main" id="{743B9AAE-8C41-F94F-FD69-B6FE8DEBDBB0}"/>
              </a:ext>
            </a:extLst>
          </p:cNvPr>
          <p:cNvSpPr/>
          <p:nvPr/>
        </p:nvSpPr>
        <p:spPr>
          <a:xfrm rot="16200000" flipH="1">
            <a:off x="9930947" y="2253206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riangolo isoscele 1">
            <a:extLst>
              <a:ext uri="{FF2B5EF4-FFF2-40B4-BE49-F238E27FC236}">
                <a16:creationId xmlns:a16="http://schemas.microsoft.com/office/drawing/2014/main" id="{28CC4E68-83B2-457E-1E3A-9F7609F0FA5C}"/>
              </a:ext>
            </a:extLst>
          </p:cNvPr>
          <p:cNvSpPr/>
          <p:nvPr/>
        </p:nvSpPr>
        <p:spPr>
          <a:xfrm rot="10800000" flipH="1">
            <a:off x="10592662" y="1702033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72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2F1C1693-AEE7-2B33-DDFF-D085F13E950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37A43A27-31D7-2648-16EE-3436E2C9B0B2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A1F2D0C-6C41-39DB-5808-78AD1B8492C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96C9A31-9E81-C085-F8B4-AB5633B1ADE6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D630C253-ED6F-82C6-A363-A15FFDBF925E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13905E27-AA12-3216-9699-54458B534158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3396E39-D2E7-D922-F7D0-99F0658ECD54}"/>
              </a:ext>
            </a:extLst>
          </p:cNvPr>
          <p:cNvSpPr txBox="1"/>
          <p:nvPr/>
        </p:nvSpPr>
        <p:spPr>
          <a:xfrm>
            <a:off x="8291650" y="163911"/>
            <a:ext cx="3645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  <a:endParaRPr lang="en-GB" dirty="0"/>
          </a:p>
        </p:txBody>
      </p:sp>
      <p:sp>
        <p:nvSpPr>
          <p:cNvPr id="2" name="Triangolo isoscele 1">
            <a:extLst>
              <a:ext uri="{FF2B5EF4-FFF2-40B4-BE49-F238E27FC236}">
                <a16:creationId xmlns:a16="http://schemas.microsoft.com/office/drawing/2014/main" id="{C1956B30-42D8-4033-3077-593C2D1651CF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157F1F9-8BF0-E2FC-2C5B-80F59B781916}"/>
              </a:ext>
            </a:extLst>
          </p:cNvPr>
          <p:cNvSpPr txBox="1"/>
          <p:nvPr/>
        </p:nvSpPr>
        <p:spPr>
          <a:xfrm>
            <a:off x="2868241" y="17013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I4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3397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2546-1973-C1C1-B432-91DC325E0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2F0D3B69-0C71-3FF2-72A6-081658A10E1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91B6D602-6813-1F30-1C54-C3BC0C714344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77AE462B-27C4-B104-FA12-FD624EDF180F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75D5969E-1592-C829-C8FA-8ACA0323A86D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84010BD4-7989-6D41-E921-DF71EA3B6B43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49EA79E-5541-D1A0-EFD2-8AD198893989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AD4D097-D228-0660-47C9-8BD38A66527F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59048AB-E7EE-C9E5-8FDF-2F32145F542E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460E59C3-1692-0F16-E049-1C51580CDC8B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8931C6AF-70D3-62B3-002D-446CD1CFF00F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5523B4A2-5DA3-8BFC-5297-1FAC3F2A3ACB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E3B8866-97B0-D694-0C53-676C28E84829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8D87BFB0-660C-BFB7-ACEF-809929A8C56F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DAA0E413-95BB-F2F3-CEE2-FA97FAB6D750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27208D3C-95F0-E838-8823-06171E3C15B7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7E3B393B-1420-3051-5FBC-59E13B99D053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96DA1ED-FF54-D1CF-2CA1-A365B1E59F65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5BD2297-BC11-781B-0458-5BFDB3484789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75F6BEDC-1415-3A75-EEFC-498D90B63554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EDDA5D40-EEA8-55FE-8610-B9A6A7BC20BD}"/>
              </a:ext>
            </a:extLst>
          </p:cNvPr>
          <p:cNvSpPr txBox="1"/>
          <p:nvPr/>
        </p:nvSpPr>
        <p:spPr>
          <a:xfrm>
            <a:off x="8291650" y="163911"/>
            <a:ext cx="3645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  <a:endParaRPr lang="en-GB" dirty="0"/>
          </a:p>
        </p:txBody>
      </p:sp>
      <p:sp>
        <p:nvSpPr>
          <p:cNvPr id="2" name="Triangolo isoscele 1">
            <a:extLst>
              <a:ext uri="{FF2B5EF4-FFF2-40B4-BE49-F238E27FC236}">
                <a16:creationId xmlns:a16="http://schemas.microsoft.com/office/drawing/2014/main" id="{478DF8EF-B47B-D24C-0CE1-7D518A867B02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583B7A7-5508-B332-169E-400CA2A0367E}"/>
              </a:ext>
            </a:extLst>
          </p:cNvPr>
          <p:cNvSpPr txBox="1"/>
          <p:nvPr/>
        </p:nvSpPr>
        <p:spPr>
          <a:xfrm>
            <a:off x="2868241" y="17013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I4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1A04EE-6095-69CD-4E96-C8EE47DD2593}"/>
              </a:ext>
            </a:extLst>
          </p:cNvPr>
          <p:cNvSpPr/>
          <p:nvPr/>
        </p:nvSpPr>
        <p:spPr>
          <a:xfrm>
            <a:off x="2602908" y="2012765"/>
            <a:ext cx="217715" cy="21771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8E6EA0-4B5C-C2F1-8AAE-1172DBDF1B4E}"/>
              </a:ext>
            </a:extLst>
          </p:cNvPr>
          <p:cNvSpPr/>
          <p:nvPr/>
        </p:nvSpPr>
        <p:spPr>
          <a:xfrm>
            <a:off x="1386741" y="4701879"/>
            <a:ext cx="2948676" cy="22161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26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C0DCE-C8B7-ABEF-07B6-BE77EB1A1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F18878EB-15F1-A0CC-6FF9-C611E78984B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78E0FA53-2EA3-A73B-00C0-A3861B5E46C7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CF2BA071-E293-1750-5A63-F5F72891373C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877897E-3535-3576-B926-D037ACFFC673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8570A0B-A123-92DF-5E69-DADDD42663EC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E5711B6-D9C6-1BBD-3996-7345FA8D64EF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F7D1C45-B986-69EF-8BDF-B9F75A6A572C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48F166-B729-B89F-07A0-1B09D3A45D4D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D504160F-9868-20F8-1E6C-A18995D9D462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D26FE9A4-1D87-1E86-5731-35DE60F5E9C1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60E1A55-68F1-A217-D5D8-3601F8E5C83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2EF29AA5-6483-F964-F629-AFE6259FEA61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F5DA83F5-25B1-D320-51FE-9023CBE9F5A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8DA8877-7938-7E59-61C3-03501214A0FE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88D89E7E-1480-39F4-ECD2-92A21975EA08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3E6116C5-1A4F-3BBB-C917-A2C7B2A57A68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B968861-9EBC-A3A8-972D-B6DAD54836E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7594C2EC-AED4-91CC-DA14-45BDEE304E86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2EA6999-039A-9BB7-5D77-5BA7DCA23F35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5025897A-B25D-79B7-D2FB-10BECAAE72E7}"/>
              </a:ext>
            </a:extLst>
          </p:cNvPr>
          <p:cNvSpPr txBox="1"/>
          <p:nvPr/>
        </p:nvSpPr>
        <p:spPr>
          <a:xfrm>
            <a:off x="8291650" y="163911"/>
            <a:ext cx="3645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  <a:endParaRPr lang="en-GB" dirty="0"/>
          </a:p>
        </p:txBody>
      </p:sp>
      <p:sp>
        <p:nvSpPr>
          <p:cNvPr id="2" name="Triangolo isoscele 1">
            <a:extLst>
              <a:ext uri="{FF2B5EF4-FFF2-40B4-BE49-F238E27FC236}">
                <a16:creationId xmlns:a16="http://schemas.microsoft.com/office/drawing/2014/main" id="{FCDB5243-588C-89F3-F3CD-7A1C41963F49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D3BB0F-5BA1-36D1-9170-307926F5E2B8}"/>
              </a:ext>
            </a:extLst>
          </p:cNvPr>
          <p:cNvSpPr txBox="1"/>
          <p:nvPr/>
        </p:nvSpPr>
        <p:spPr>
          <a:xfrm>
            <a:off x="2868241" y="17013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I4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9B68BE-AA18-DEFC-73FF-48255C4BB0A4}"/>
              </a:ext>
            </a:extLst>
          </p:cNvPr>
          <p:cNvSpPr/>
          <p:nvPr/>
        </p:nvSpPr>
        <p:spPr>
          <a:xfrm>
            <a:off x="2602908" y="2012765"/>
            <a:ext cx="217715" cy="21771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1C3663-7D16-17D4-6ED3-2DA522B52A2C}"/>
              </a:ext>
            </a:extLst>
          </p:cNvPr>
          <p:cNvSpPr/>
          <p:nvPr/>
        </p:nvSpPr>
        <p:spPr>
          <a:xfrm>
            <a:off x="1386741" y="4701879"/>
            <a:ext cx="2948676" cy="22161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0CDC17-6037-218E-9FB4-0229C3EA5B64}"/>
              </a:ext>
            </a:extLst>
          </p:cNvPr>
          <p:cNvSpPr/>
          <p:nvPr/>
        </p:nvSpPr>
        <p:spPr>
          <a:xfrm>
            <a:off x="1355997" y="2255801"/>
            <a:ext cx="2713232" cy="1256232"/>
          </a:xfrm>
          <a:prstGeom prst="roundRect">
            <a:avLst>
              <a:gd name="adj" fmla="val 11208"/>
            </a:avLst>
          </a:prstGeom>
          <a:solidFill>
            <a:srgbClr val="00B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6B0F915-AF95-0CC9-D9D8-719B96B4EBE1}"/>
              </a:ext>
            </a:extLst>
          </p:cNvPr>
          <p:cNvSpPr/>
          <p:nvPr/>
        </p:nvSpPr>
        <p:spPr>
          <a:xfrm>
            <a:off x="1386739" y="4973737"/>
            <a:ext cx="2948676" cy="221613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504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D6D7B-9829-5F22-B59C-DB58B35F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62640128-A301-E02A-EA7E-8966C25FB74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2F4625CB-0503-08E0-CD63-341ECCCCEA61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E51B4E45-5EEC-84A4-7674-E1E64D4741AA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412DCC9E-FB8A-F765-099A-A42350621ABC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9425392-86A4-1F84-5691-06D9C512E60E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D4E2310-3984-FFE0-0F22-5A0D1DBDE281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A065C54-C403-B727-62CB-26DA4F086E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2381753-6409-0D5D-1813-38F4F7E47C9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D0C182A-D4E9-825D-9C0F-1864046527E1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E9C5EFC3-B8F4-343A-08D1-5B642E1FB8B5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BE648CF-4E24-7637-78CD-D9190DA445E4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C2D7861B-6EF1-D1B0-E661-3BC8F98BAFE4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17BB3283-E83D-80A1-F59F-ED9280C13198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94FDA054-495B-80BD-0C52-EBF9C0FD4092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EC16B22C-D3BC-F519-920B-7D314EEC7123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1ED40FAF-EE24-0E8F-86F0-C925E59549E7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B41C5C4-042F-87C4-A34A-C713B7F92C71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9F7FA825-A67A-0737-853A-039E16FB23EB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04F98682-4927-57C2-771C-A72E612E6CF7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CA78FCBF-C647-D2DB-0091-14CEA2F05125}"/>
              </a:ext>
            </a:extLst>
          </p:cNvPr>
          <p:cNvSpPr txBox="1"/>
          <p:nvPr/>
        </p:nvSpPr>
        <p:spPr>
          <a:xfrm>
            <a:off x="8291650" y="163911"/>
            <a:ext cx="3645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  <a:endParaRPr lang="en-GB" dirty="0"/>
          </a:p>
        </p:txBody>
      </p:sp>
      <p:sp>
        <p:nvSpPr>
          <p:cNvPr id="2" name="Triangolo isoscele 1">
            <a:extLst>
              <a:ext uri="{FF2B5EF4-FFF2-40B4-BE49-F238E27FC236}">
                <a16:creationId xmlns:a16="http://schemas.microsoft.com/office/drawing/2014/main" id="{097F7CDD-ED72-1D24-1228-052045321825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C9ABCC-BB6B-EBD4-4049-74D496C8EC94}"/>
              </a:ext>
            </a:extLst>
          </p:cNvPr>
          <p:cNvSpPr txBox="1"/>
          <p:nvPr/>
        </p:nvSpPr>
        <p:spPr>
          <a:xfrm>
            <a:off x="2868241" y="17013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I4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0EF7B9-28BE-5196-E4B5-302C7F898099}"/>
              </a:ext>
            </a:extLst>
          </p:cNvPr>
          <p:cNvSpPr/>
          <p:nvPr/>
        </p:nvSpPr>
        <p:spPr>
          <a:xfrm>
            <a:off x="2602908" y="2012765"/>
            <a:ext cx="217715" cy="21771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93F974-D64F-6D22-5008-47D816DC1578}"/>
              </a:ext>
            </a:extLst>
          </p:cNvPr>
          <p:cNvSpPr/>
          <p:nvPr/>
        </p:nvSpPr>
        <p:spPr>
          <a:xfrm>
            <a:off x="1386741" y="4701879"/>
            <a:ext cx="2948676" cy="22161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464871-7149-0296-6269-EA07D0814ADE}"/>
              </a:ext>
            </a:extLst>
          </p:cNvPr>
          <p:cNvSpPr/>
          <p:nvPr/>
        </p:nvSpPr>
        <p:spPr>
          <a:xfrm>
            <a:off x="1355997" y="2255801"/>
            <a:ext cx="2713232" cy="1256232"/>
          </a:xfrm>
          <a:prstGeom prst="roundRect">
            <a:avLst>
              <a:gd name="adj" fmla="val 11208"/>
            </a:avLst>
          </a:prstGeom>
          <a:solidFill>
            <a:srgbClr val="00B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AE2EDB-32FD-D2D9-C8B7-C0773C204CB0}"/>
              </a:ext>
            </a:extLst>
          </p:cNvPr>
          <p:cNvSpPr/>
          <p:nvPr/>
        </p:nvSpPr>
        <p:spPr>
          <a:xfrm>
            <a:off x="1386739" y="4973737"/>
            <a:ext cx="2948676" cy="221613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970FFA9-4C2C-5376-7DFA-777CE3C14D25}"/>
              </a:ext>
            </a:extLst>
          </p:cNvPr>
          <p:cNvSpPr/>
          <p:nvPr/>
        </p:nvSpPr>
        <p:spPr>
          <a:xfrm>
            <a:off x="1386741" y="5244071"/>
            <a:ext cx="2948676" cy="221613"/>
          </a:xfrm>
          <a:prstGeom prst="roundRect">
            <a:avLst/>
          </a:prstGeom>
          <a:solidFill>
            <a:srgbClr val="00B0F0">
              <a:alpha val="5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E8FD988-EB37-973F-E66C-57A497083793}"/>
              </a:ext>
            </a:extLst>
          </p:cNvPr>
          <p:cNvSpPr/>
          <p:nvPr/>
        </p:nvSpPr>
        <p:spPr>
          <a:xfrm>
            <a:off x="4351090" y="2255801"/>
            <a:ext cx="1232085" cy="1256232"/>
          </a:xfrm>
          <a:prstGeom prst="roundRect">
            <a:avLst>
              <a:gd name="adj" fmla="val 11208"/>
            </a:avLst>
          </a:prstGeom>
          <a:solidFill>
            <a:srgbClr val="00B0F0">
              <a:alpha val="5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15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D96DC-AD01-EFA8-17FE-C4B55B08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92B94008-9F38-D5A1-8FDF-0E168C4017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AEED1DFA-AE63-6274-E688-ECF24BA74189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B7DB3463-1601-D523-D858-7180B7BD74C9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275BB86C-1C3A-BF25-77AA-F3FDFFB93507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BFEC4C6-9890-49F5-0C24-E5D8C27CABEA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8DA5706-5D1F-E1C8-45D4-F1193C8912B3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2565F36-5478-9D80-5BF1-30190248F62F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22543AD-C0AB-945D-3ADA-DF1D8FB7DA2A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2F19CB3-BED2-A705-BE49-84D8C9709CCE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9C80F5F-57D4-F3F8-FDDF-920924E83DC3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5EC51D5E-5C88-87D2-A0F9-89E734A0CE73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AF143FAF-6480-3E4C-2A00-E693B45A739F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0C2781B-DCAE-1B42-EF0E-F22F1C1BD4B9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E6ED23DB-A6B0-2965-C17B-8D64AB5D8053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7964171-6B3A-F597-1512-B21A61DA7351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013A31B-65C9-EF8C-D06F-B17AB6C220A7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CD98F70-4F24-F7C7-AE99-1D52675425F8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98F02729-5BEE-AB6F-34F2-A9636D04C22F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F42D9C2-C678-FAB1-B80A-F6CDC15C7169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A4508E99-F891-C33C-5D77-0BA515D878AD}"/>
              </a:ext>
            </a:extLst>
          </p:cNvPr>
          <p:cNvSpPr txBox="1"/>
          <p:nvPr/>
        </p:nvSpPr>
        <p:spPr>
          <a:xfrm>
            <a:off x="8291650" y="163911"/>
            <a:ext cx="3645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  <a:endParaRPr lang="en-GB" dirty="0"/>
          </a:p>
        </p:txBody>
      </p:sp>
      <p:sp>
        <p:nvSpPr>
          <p:cNvPr id="2" name="Triangolo isoscele 1">
            <a:extLst>
              <a:ext uri="{FF2B5EF4-FFF2-40B4-BE49-F238E27FC236}">
                <a16:creationId xmlns:a16="http://schemas.microsoft.com/office/drawing/2014/main" id="{5E21C944-B780-E043-20E0-104DB359506B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993DDFE-6C03-EDAB-6F18-C5A8C07A78F5}"/>
              </a:ext>
            </a:extLst>
          </p:cNvPr>
          <p:cNvSpPr txBox="1"/>
          <p:nvPr/>
        </p:nvSpPr>
        <p:spPr>
          <a:xfrm>
            <a:off x="2868241" y="17013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I4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35E155-BFED-B741-4BD8-525409689FCB}"/>
              </a:ext>
            </a:extLst>
          </p:cNvPr>
          <p:cNvSpPr/>
          <p:nvPr/>
        </p:nvSpPr>
        <p:spPr>
          <a:xfrm>
            <a:off x="2602908" y="2012765"/>
            <a:ext cx="217715" cy="217715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79E6FA-E414-CACA-4F51-1C75FD401C57}"/>
              </a:ext>
            </a:extLst>
          </p:cNvPr>
          <p:cNvSpPr/>
          <p:nvPr/>
        </p:nvSpPr>
        <p:spPr>
          <a:xfrm>
            <a:off x="1386741" y="4701879"/>
            <a:ext cx="2948676" cy="22161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7A4A85A-2B73-8D56-7187-3CF4810B7D65}"/>
              </a:ext>
            </a:extLst>
          </p:cNvPr>
          <p:cNvSpPr/>
          <p:nvPr/>
        </p:nvSpPr>
        <p:spPr>
          <a:xfrm>
            <a:off x="1355997" y="2255801"/>
            <a:ext cx="2713232" cy="1256232"/>
          </a:xfrm>
          <a:prstGeom prst="roundRect">
            <a:avLst>
              <a:gd name="adj" fmla="val 11208"/>
            </a:avLst>
          </a:prstGeom>
          <a:solidFill>
            <a:srgbClr val="00B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592C1B-13AF-6A91-AB48-5387D3A73E5E}"/>
              </a:ext>
            </a:extLst>
          </p:cNvPr>
          <p:cNvSpPr/>
          <p:nvPr/>
        </p:nvSpPr>
        <p:spPr>
          <a:xfrm>
            <a:off x="1386739" y="4973737"/>
            <a:ext cx="2948676" cy="221613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27A7A7C-F8C5-3127-D498-720AD8539028}"/>
              </a:ext>
            </a:extLst>
          </p:cNvPr>
          <p:cNvSpPr/>
          <p:nvPr/>
        </p:nvSpPr>
        <p:spPr>
          <a:xfrm>
            <a:off x="1386741" y="5244071"/>
            <a:ext cx="2948676" cy="221613"/>
          </a:xfrm>
          <a:prstGeom prst="roundRect">
            <a:avLst/>
          </a:prstGeom>
          <a:solidFill>
            <a:srgbClr val="00B0F0">
              <a:alpha val="5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5F4DBBC-976E-4FC0-0D98-DEB8A90C5574}"/>
              </a:ext>
            </a:extLst>
          </p:cNvPr>
          <p:cNvSpPr/>
          <p:nvPr/>
        </p:nvSpPr>
        <p:spPr>
          <a:xfrm>
            <a:off x="1386739" y="5515929"/>
            <a:ext cx="2948676" cy="221613"/>
          </a:xfrm>
          <a:prstGeom prst="roundRect">
            <a:avLst/>
          </a:prstGeom>
          <a:solidFill>
            <a:srgbClr val="7030A0">
              <a:alpha val="5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15618A9-7B8F-DB81-7364-DE4D8D1541B7}"/>
              </a:ext>
            </a:extLst>
          </p:cNvPr>
          <p:cNvSpPr/>
          <p:nvPr/>
        </p:nvSpPr>
        <p:spPr>
          <a:xfrm>
            <a:off x="4351090" y="2255801"/>
            <a:ext cx="1232085" cy="1256232"/>
          </a:xfrm>
          <a:prstGeom prst="roundRect">
            <a:avLst>
              <a:gd name="adj" fmla="val 11208"/>
            </a:avLst>
          </a:prstGeom>
          <a:solidFill>
            <a:srgbClr val="00B0F0">
              <a:alpha val="5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E768E5-BE96-4282-0FED-5FADF4458B62}"/>
              </a:ext>
            </a:extLst>
          </p:cNvPr>
          <p:cNvSpPr/>
          <p:nvPr/>
        </p:nvSpPr>
        <p:spPr>
          <a:xfrm>
            <a:off x="4113176" y="2012765"/>
            <a:ext cx="217715" cy="217715"/>
          </a:xfrm>
          <a:prstGeom prst="ellipse">
            <a:avLst/>
          </a:prstGeom>
          <a:solidFill>
            <a:srgbClr val="7030A0">
              <a:alpha val="5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027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FD10-C482-9983-9C42-2D4BD995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456D2D7A-66E1-621E-234C-D0A85C63822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50293783-4275-23E9-E995-FE6A24043550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D57173B4-FE26-725C-EFF8-E19E6CA2E402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F6C905EC-1571-FFD9-63AB-E99116B8FE41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42CB391-B032-2790-5956-A014654CC12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07242" cy="1026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29D767B-D859-82E5-115A-1D0BA54C5311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0260464-C7E3-F3CD-A10B-8D9D840E9957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FD85C89-5A8A-3E2E-6820-846BF203FCA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EE88C15D-8C74-C65A-F31C-26B7C00DD845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F349E26-2ABF-DC29-DB8D-815E3923C9DB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309AC513-A564-6126-3F44-8C85EFF9890C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05463281-30D3-6860-A181-DB16E70CF044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A468004A-7BEE-EF12-0C6A-DAEFD6D7A5EE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2B194D4-0545-C1C3-0291-14C17CD773B6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DBB6588D-2BEC-4D46-AEAF-C7E106BD2FEB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BA041281-9DD9-90A5-ED81-4FB90FD1B06B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297C783-8D50-2E76-6CE5-B10EC80DD83B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5837D8F7-9E87-3496-7B4C-F714BF19506C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713BC35C-9471-FFCB-6773-CA105670159C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08D17C49-A7C2-4EB4-4762-F8B05AD34656}"/>
              </a:ext>
            </a:extLst>
          </p:cNvPr>
          <p:cNvSpPr txBox="1"/>
          <p:nvPr/>
        </p:nvSpPr>
        <p:spPr>
          <a:xfrm>
            <a:off x="8291650" y="163911"/>
            <a:ext cx="3645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  <a:endParaRPr lang="en-GB" dirty="0"/>
          </a:p>
        </p:txBody>
      </p:sp>
      <p:sp>
        <p:nvSpPr>
          <p:cNvPr id="2" name="Triangolo isoscele 1">
            <a:extLst>
              <a:ext uri="{FF2B5EF4-FFF2-40B4-BE49-F238E27FC236}">
                <a16:creationId xmlns:a16="http://schemas.microsoft.com/office/drawing/2014/main" id="{4090FE2C-814F-1572-152B-65F411CB9840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ACFCC5-28FF-06AC-6123-C17476E14989}"/>
              </a:ext>
            </a:extLst>
          </p:cNvPr>
          <p:cNvSpPr txBox="1"/>
          <p:nvPr/>
        </p:nvSpPr>
        <p:spPr>
          <a:xfrm>
            <a:off x="2868241" y="170131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I4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251648CF-6269-0EFA-EBF2-50331F80C543}"/>
                  </a:ext>
                </a:extLst>
              </p:cNvPr>
              <p:cNvSpPr txBox="1"/>
              <p:nvPr/>
            </p:nvSpPr>
            <p:spPr>
              <a:xfrm>
                <a:off x="3614467" y="5889687"/>
                <a:ext cx="14418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4=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2+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DD2DAF5B-AA32-A26F-F6E4-297717434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467" y="5889687"/>
                <a:ext cx="144189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A8D60D0-18F5-A006-2CEB-1110534CE359}"/>
              </a:ext>
            </a:extLst>
          </p:cNvPr>
          <p:cNvSpPr txBox="1"/>
          <p:nvPr/>
        </p:nvSpPr>
        <p:spPr>
          <a:xfrm>
            <a:off x="1293361" y="5889687"/>
            <a:ext cx="249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semplifico sostituendo…</a:t>
            </a:r>
            <a:endParaRPr lang="en-GB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3D42D6-5D5C-763A-EB2A-6C929F99F3CC}"/>
              </a:ext>
            </a:extLst>
          </p:cNvPr>
          <p:cNvSpPr/>
          <p:nvPr/>
        </p:nvSpPr>
        <p:spPr>
          <a:xfrm>
            <a:off x="1386739" y="5515929"/>
            <a:ext cx="2948676" cy="221613"/>
          </a:xfrm>
          <a:prstGeom prst="roundRect">
            <a:avLst/>
          </a:prstGeom>
          <a:solidFill>
            <a:srgbClr val="7030A0">
              <a:alpha val="5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630B86-0B87-037E-1514-EC70FAB92D7B}"/>
              </a:ext>
            </a:extLst>
          </p:cNvPr>
          <p:cNvSpPr/>
          <p:nvPr/>
        </p:nvSpPr>
        <p:spPr>
          <a:xfrm>
            <a:off x="4113176" y="2012765"/>
            <a:ext cx="217715" cy="217715"/>
          </a:xfrm>
          <a:prstGeom prst="ellipse">
            <a:avLst/>
          </a:prstGeom>
          <a:solidFill>
            <a:srgbClr val="7030A0">
              <a:alpha val="5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314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2F1C1693-AEE7-2B33-DDFF-D085F13E950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37A43A27-31D7-2648-16EE-3436E2C9B0B2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96C9A31-9E81-C085-F8B4-AB5633B1ADE6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D630C253-ED6F-82C6-A363-A15FFDBF925E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13905E27-AA12-3216-9699-54458B534158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3396E39-D2E7-D922-F7D0-99F0658ECD54}"/>
              </a:ext>
            </a:extLst>
          </p:cNvPr>
          <p:cNvSpPr txBox="1"/>
          <p:nvPr/>
        </p:nvSpPr>
        <p:spPr>
          <a:xfrm>
            <a:off x="8291650" y="163911"/>
            <a:ext cx="3645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  <a:endParaRPr lang="en-GB" dirty="0"/>
          </a:p>
        </p:txBody>
      </p:sp>
      <p:sp>
        <p:nvSpPr>
          <p:cNvPr id="2" name="Triangolo isoscele 1">
            <a:extLst>
              <a:ext uri="{FF2B5EF4-FFF2-40B4-BE49-F238E27FC236}">
                <a16:creationId xmlns:a16="http://schemas.microsoft.com/office/drawing/2014/main" id="{89D191E6-B4A6-00F8-3047-13B77A456687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33FD1D8-2E61-7DD0-2285-F3FAC2976417}"/>
              </a:ext>
            </a:extLst>
          </p:cNvPr>
          <p:cNvSpPr txBox="1"/>
          <p:nvPr/>
        </p:nvSpPr>
        <p:spPr>
          <a:xfrm>
            <a:off x="2562626" y="165943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902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magine 36">
            <a:extLst>
              <a:ext uri="{FF2B5EF4-FFF2-40B4-BE49-F238E27FC236}">
                <a16:creationId xmlns:a16="http://schemas.microsoft.com/office/drawing/2014/main" id="{65EBD551-30D0-68B9-63C1-5748B3AA7BD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40" name="Triangolo isoscele 39">
            <a:extLst>
              <a:ext uri="{FF2B5EF4-FFF2-40B4-BE49-F238E27FC236}">
                <a16:creationId xmlns:a16="http://schemas.microsoft.com/office/drawing/2014/main" id="{D845002B-595E-6DA3-765E-D7BC22C394F5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4966A29F-5765-5D38-FD5B-023AE0DEC323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30B43E55-0E0C-BC89-BF63-AB2A10C6185C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3E22BF70-094D-8B72-D349-CEFE7F940E36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0227F9A-2B84-58B6-C591-A42DDBF677FF}"/>
                  </a:ext>
                </a:extLst>
              </p:cNvPr>
              <p:cNvSpPr txBox="1"/>
              <p:nvPr/>
            </p:nvSpPr>
            <p:spPr>
              <a:xfrm>
                <a:off x="1544082" y="1347434"/>
                <a:ext cx="9200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𝑑𝑑𝑝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??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0227F9A-2B84-58B6-C591-A42DDBF67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82" y="1347434"/>
                <a:ext cx="92006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92C1D658-4A0E-202E-721A-0B24198FFFE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FD649951-763B-E1AA-368D-DFF768C53C23}"/>
              </a:ext>
            </a:extLst>
          </p:cNvPr>
          <p:cNvSpPr txBox="1"/>
          <p:nvPr/>
        </p:nvSpPr>
        <p:spPr>
          <a:xfrm>
            <a:off x="8291650" y="163911"/>
            <a:ext cx="3645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  <a:endParaRPr lang="en-GB" dirty="0"/>
          </a:p>
        </p:txBody>
      </p:sp>
      <p:sp>
        <p:nvSpPr>
          <p:cNvPr id="4" name="Triangolo isoscele 1">
            <a:extLst>
              <a:ext uri="{FF2B5EF4-FFF2-40B4-BE49-F238E27FC236}">
                <a16:creationId xmlns:a16="http://schemas.microsoft.com/office/drawing/2014/main" id="{8EB1C77B-6382-2480-33A2-7E9BB4EEDBFE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2">
            <a:extLst>
              <a:ext uri="{FF2B5EF4-FFF2-40B4-BE49-F238E27FC236}">
                <a16:creationId xmlns:a16="http://schemas.microsoft.com/office/drawing/2014/main" id="{4692D331-0952-FD4A-503A-31EC16E606D8}"/>
              </a:ext>
            </a:extLst>
          </p:cNvPr>
          <p:cNvSpPr txBox="1"/>
          <p:nvPr/>
        </p:nvSpPr>
        <p:spPr>
          <a:xfrm>
            <a:off x="2562626" y="165943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034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F8865A6A-9C56-CE95-EC1C-61D2D38EA5C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1" name="Triangolo isoscele 20">
            <a:extLst>
              <a:ext uri="{FF2B5EF4-FFF2-40B4-BE49-F238E27FC236}">
                <a16:creationId xmlns:a16="http://schemas.microsoft.com/office/drawing/2014/main" id="{095F34D7-FA50-2E37-7A80-7746A37BA691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34B00E2-03D8-99FE-0B1D-29A4DCE218E5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2B653E9-CB8D-308B-9E28-7545B6C60FA2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1273292" cy="6720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96C9A31-9E81-C085-F8B4-AB5633B1ADE6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2540D56C-1B24-2D04-F8EF-F9DCBF702F96}"/>
              </a:ext>
            </a:extLst>
          </p:cNvPr>
          <p:cNvSpPr/>
          <p:nvPr/>
        </p:nvSpPr>
        <p:spPr>
          <a:xfrm>
            <a:off x="4335417" y="1449983"/>
            <a:ext cx="1123558" cy="12793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CB92E0D8-3152-E0C8-6690-41C41CD4AFC7}"/>
              </a:ext>
            </a:extLst>
          </p:cNvPr>
          <p:cNvCxnSpPr/>
          <p:nvPr/>
        </p:nvCxnSpPr>
        <p:spPr>
          <a:xfrm>
            <a:off x="4347609" y="2128247"/>
            <a:ext cx="12455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BA1CF9E5-0CCA-EBB7-FE6A-EBFD2BE76C8C}"/>
                  </a:ext>
                </a:extLst>
              </p:cNvPr>
              <p:cNvSpPr txBox="1"/>
              <p:nvPr/>
            </p:nvSpPr>
            <p:spPr>
              <a:xfrm>
                <a:off x="1449799" y="1344485"/>
                <a:ext cx="9322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BA1CF9E5-0CCA-EBB7-FE6A-EBFD2BE76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99" y="1344485"/>
                <a:ext cx="9322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2EE5C6B1-0F69-97E4-83FD-474F279AAAEA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0EE2620C-96C0-D60D-313C-14DCC6EFCC3E}"/>
              </a:ext>
            </a:extLst>
          </p:cNvPr>
          <p:cNvSpPr txBox="1"/>
          <p:nvPr/>
        </p:nvSpPr>
        <p:spPr>
          <a:xfrm>
            <a:off x="8291650" y="163911"/>
            <a:ext cx="3645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  <a:endParaRPr lang="en-GB" dirty="0"/>
          </a:p>
        </p:txBody>
      </p:sp>
      <p:sp>
        <p:nvSpPr>
          <p:cNvPr id="3" name="Triangolo isoscele 1">
            <a:extLst>
              <a:ext uri="{FF2B5EF4-FFF2-40B4-BE49-F238E27FC236}">
                <a16:creationId xmlns:a16="http://schemas.microsoft.com/office/drawing/2014/main" id="{378C7FAD-755C-5B32-5CBA-CC2286A3F756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asellaDiTesto 2">
            <a:extLst>
              <a:ext uri="{FF2B5EF4-FFF2-40B4-BE49-F238E27FC236}">
                <a16:creationId xmlns:a16="http://schemas.microsoft.com/office/drawing/2014/main" id="{2D2ED284-5FE4-264E-901F-BF2FC73ADBB2}"/>
              </a:ext>
            </a:extLst>
          </p:cNvPr>
          <p:cNvSpPr txBox="1"/>
          <p:nvPr/>
        </p:nvSpPr>
        <p:spPr>
          <a:xfrm>
            <a:off x="2562626" y="165943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992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>
            <a:extLst>
              <a:ext uri="{FF2B5EF4-FFF2-40B4-BE49-F238E27FC236}">
                <a16:creationId xmlns:a16="http://schemas.microsoft.com/office/drawing/2014/main" id="{763D772B-0CAB-097B-5D24-D3A415301CF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3" name="Triangolo isoscele 22">
            <a:extLst>
              <a:ext uri="{FF2B5EF4-FFF2-40B4-BE49-F238E27FC236}">
                <a16:creationId xmlns:a16="http://schemas.microsoft.com/office/drawing/2014/main" id="{9373F0A5-EF9F-5055-7234-B3EE78D2F8B5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45CFE32F-01D7-BFDE-5437-F122920C68C1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9B3118DC-9B4C-665C-8912-876280647816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4250" cy="7564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4250" cy="756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96C9A31-9E81-C085-F8B4-AB5633B1ADE6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2540D56C-1B24-2D04-F8EF-F9DCBF702F96}"/>
              </a:ext>
            </a:extLst>
          </p:cNvPr>
          <p:cNvSpPr/>
          <p:nvPr/>
        </p:nvSpPr>
        <p:spPr>
          <a:xfrm>
            <a:off x="799550" y="2274337"/>
            <a:ext cx="1273292" cy="9573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CB92E0D8-3152-E0C8-6690-41C41CD4AFC7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BA1CF9E5-0CCA-EBB7-FE6A-EBFD2BE76C8C}"/>
                  </a:ext>
                </a:extLst>
              </p:cNvPr>
              <p:cNvSpPr txBox="1"/>
              <p:nvPr/>
            </p:nvSpPr>
            <p:spPr>
              <a:xfrm>
                <a:off x="1449799" y="1344485"/>
                <a:ext cx="9322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BA1CF9E5-0CCA-EBB7-FE6A-EBFD2BE76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99" y="1344485"/>
                <a:ext cx="93224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03C0C730-F124-C7F0-F5C4-14101A54563E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01CCEA51-E7E3-1EED-4816-E409499554E5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34D2777-642A-E447-E2E9-B7B6667D4FF6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720486D8-97CD-F251-78D2-C770CB53E395}"/>
              </a:ext>
            </a:extLst>
          </p:cNvPr>
          <p:cNvSpPr/>
          <p:nvPr/>
        </p:nvSpPr>
        <p:spPr>
          <a:xfrm>
            <a:off x="2253614" y="2540000"/>
            <a:ext cx="1273292" cy="6720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E62D8A0B-4A05-759A-1F91-45953288969B}"/>
              </a:ext>
            </a:extLst>
          </p:cNvPr>
          <p:cNvSpPr txBox="1"/>
          <p:nvPr/>
        </p:nvSpPr>
        <p:spPr>
          <a:xfrm>
            <a:off x="8291650" y="163911"/>
            <a:ext cx="3645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  <a:endParaRPr lang="en-GB" dirty="0"/>
          </a:p>
        </p:txBody>
      </p:sp>
      <p:sp>
        <p:nvSpPr>
          <p:cNvPr id="3" name="Triangolo isoscele 1">
            <a:extLst>
              <a:ext uri="{FF2B5EF4-FFF2-40B4-BE49-F238E27FC236}">
                <a16:creationId xmlns:a16="http://schemas.microsoft.com/office/drawing/2014/main" id="{773D2E42-D235-E8DB-3BD9-C736EE54FC7E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asellaDiTesto 2">
            <a:extLst>
              <a:ext uri="{FF2B5EF4-FFF2-40B4-BE49-F238E27FC236}">
                <a16:creationId xmlns:a16="http://schemas.microsoft.com/office/drawing/2014/main" id="{5B9877A5-F19B-3D7D-58FB-1E96E53FD57F}"/>
              </a:ext>
            </a:extLst>
          </p:cNvPr>
          <p:cNvSpPr txBox="1"/>
          <p:nvPr/>
        </p:nvSpPr>
        <p:spPr>
          <a:xfrm>
            <a:off x="2562626" y="165943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178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>
            <a:extLst>
              <a:ext uri="{FF2B5EF4-FFF2-40B4-BE49-F238E27FC236}">
                <a16:creationId xmlns:a16="http://schemas.microsoft.com/office/drawing/2014/main" id="{9A1442E3-D99B-375C-F170-B8B520B32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1" y="1465660"/>
            <a:ext cx="5604537" cy="2445157"/>
          </a:xfrm>
          <a:prstGeom prst="rect">
            <a:avLst/>
          </a:prstGeom>
        </p:spPr>
      </p:pic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077463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077463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96C9A31-9E81-C085-F8B4-AB5633B1ADE6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2540D56C-1B24-2D04-F8EF-F9DCBF702F96}"/>
              </a:ext>
            </a:extLst>
          </p:cNvPr>
          <p:cNvSpPr/>
          <p:nvPr/>
        </p:nvSpPr>
        <p:spPr>
          <a:xfrm>
            <a:off x="799550" y="2274337"/>
            <a:ext cx="1273292" cy="9573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CB92E0D8-3152-E0C8-6690-41C41CD4AFC7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BA1CF9E5-0CCA-EBB7-FE6A-EBFD2BE76C8C}"/>
                  </a:ext>
                </a:extLst>
              </p:cNvPr>
              <p:cNvSpPr txBox="1"/>
              <p:nvPr/>
            </p:nvSpPr>
            <p:spPr>
              <a:xfrm>
                <a:off x="1564216" y="1315188"/>
                <a:ext cx="851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BA1CF9E5-0CCA-EBB7-FE6A-EBFD2BE76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216" y="1315188"/>
                <a:ext cx="851323" cy="369332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341CD18-258C-72A6-1906-559505FD87A8}"/>
              </a:ext>
            </a:extLst>
          </p:cNvPr>
          <p:cNvSpPr/>
          <p:nvPr/>
        </p:nvSpPr>
        <p:spPr>
          <a:xfrm>
            <a:off x="4335417" y="1449984"/>
            <a:ext cx="1273292" cy="9573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09B500F2-C60B-C934-E9F4-348604A3489A}"/>
              </a:ext>
            </a:extLst>
          </p:cNvPr>
          <p:cNvCxnSpPr/>
          <p:nvPr/>
        </p:nvCxnSpPr>
        <p:spPr>
          <a:xfrm>
            <a:off x="4347609" y="2118087"/>
            <a:ext cx="12455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A0D8BFEA-79A2-5927-70A9-94E59E810E68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E32CC82F-93BF-511C-59AC-DF49F7D5739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riangolo isoscele 22">
            <a:extLst>
              <a:ext uri="{FF2B5EF4-FFF2-40B4-BE49-F238E27FC236}">
                <a16:creationId xmlns:a16="http://schemas.microsoft.com/office/drawing/2014/main" id="{A0D599DC-5A3B-7AEC-8DB8-428D9AD3A727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9E140B99-2EEC-70AD-AC34-0526271E59EF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9632831-D621-08D6-6B3A-9FC4E3F63F71}"/>
              </a:ext>
            </a:extLst>
          </p:cNvPr>
          <p:cNvSpPr txBox="1"/>
          <p:nvPr/>
        </p:nvSpPr>
        <p:spPr>
          <a:xfrm>
            <a:off x="8291650" y="163911"/>
            <a:ext cx="3645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  <a:endParaRPr lang="en-GB" dirty="0"/>
          </a:p>
        </p:txBody>
      </p:sp>
      <p:sp>
        <p:nvSpPr>
          <p:cNvPr id="4" name="Triangolo isoscele 1">
            <a:extLst>
              <a:ext uri="{FF2B5EF4-FFF2-40B4-BE49-F238E27FC236}">
                <a16:creationId xmlns:a16="http://schemas.microsoft.com/office/drawing/2014/main" id="{427C794E-8307-07DD-8519-09078B1A3833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2">
            <a:extLst>
              <a:ext uri="{FF2B5EF4-FFF2-40B4-BE49-F238E27FC236}">
                <a16:creationId xmlns:a16="http://schemas.microsoft.com/office/drawing/2014/main" id="{2ADF7349-8E0A-4D24-482F-BEF0A94FE743}"/>
              </a:ext>
            </a:extLst>
          </p:cNvPr>
          <p:cNvSpPr txBox="1"/>
          <p:nvPr/>
        </p:nvSpPr>
        <p:spPr>
          <a:xfrm>
            <a:off x="2562626" y="165943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0395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0BD80B0B-5760-2AE5-3550-FC314B3ABA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499A7FA-9731-E4DD-7B93-F9B1BED1E65A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CF293DD-327E-D156-AB1A-44AF8522A616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A1F2D0C-6C41-39DB-5808-78AD1B8492C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2B2B66D-B992-86C6-5618-FDBDCEB95DC7}"/>
                  </a:ext>
                </a:extLst>
              </p:cNvPr>
              <p:cNvSpPr txBox="1"/>
              <p:nvPr/>
            </p:nvSpPr>
            <p:spPr>
              <a:xfrm>
                <a:off x="495302" y="1286067"/>
                <a:ext cx="27783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2+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2B2B66D-B992-86C6-5618-FDBDCEB95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2" y="1286067"/>
                <a:ext cx="277835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DC04301-0422-B902-DB54-9A1D4542DE7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D699DF9-EEC5-42F2-D526-C3EF2E5E28EB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8A2DD7B-53A3-5FD6-759F-824E698E2BF4}"/>
              </a:ext>
            </a:extLst>
          </p:cNvPr>
          <p:cNvSpPr txBox="1"/>
          <p:nvPr/>
        </p:nvSpPr>
        <p:spPr>
          <a:xfrm>
            <a:off x="8291650" y="163911"/>
            <a:ext cx="3645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  <a:endParaRPr lang="en-GB" dirty="0"/>
          </a:p>
        </p:txBody>
      </p:sp>
      <p:sp>
        <p:nvSpPr>
          <p:cNvPr id="4" name="Triangolo isoscele 1">
            <a:extLst>
              <a:ext uri="{FF2B5EF4-FFF2-40B4-BE49-F238E27FC236}">
                <a16:creationId xmlns:a16="http://schemas.microsoft.com/office/drawing/2014/main" id="{C3F77844-3A3C-69CA-5297-9FC45539EB47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2">
            <a:extLst>
              <a:ext uri="{FF2B5EF4-FFF2-40B4-BE49-F238E27FC236}">
                <a16:creationId xmlns:a16="http://schemas.microsoft.com/office/drawing/2014/main" id="{57F3D1DD-4456-235F-7EAD-5C4594B2E192}"/>
              </a:ext>
            </a:extLst>
          </p:cNvPr>
          <p:cNvSpPr txBox="1"/>
          <p:nvPr/>
        </p:nvSpPr>
        <p:spPr>
          <a:xfrm>
            <a:off x="2562626" y="165943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545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0BD80B0B-5760-2AE5-3550-FC314B3ABA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499A7FA-9731-E4DD-7B93-F9B1BED1E65A}"/>
              </a:ext>
            </a:extLst>
          </p:cNvPr>
          <p:cNvCxnSpPr>
            <a:cxnSpLocks/>
          </p:cNvCxnSpPr>
          <p:nvPr/>
        </p:nvCxnSpPr>
        <p:spPr>
          <a:xfrm flipV="1">
            <a:off x="6662928" y="2285902"/>
            <a:ext cx="0" cy="1153039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CF293DD-327E-D156-AB1A-44AF8522A616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A1F2D0C-6C41-39DB-5808-78AD1B8492C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DC04301-0422-B902-DB54-9A1D4542DE7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D699DF9-EEC5-42F2-D526-C3EF2E5E28EB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2D107A2-5A54-23E1-3A40-C9F10B15BE09}"/>
              </a:ext>
            </a:extLst>
          </p:cNvPr>
          <p:cNvCxnSpPr>
            <a:cxnSpLocks/>
          </p:cNvCxnSpPr>
          <p:nvPr/>
        </p:nvCxnSpPr>
        <p:spPr>
          <a:xfrm>
            <a:off x="5737497" y="3632260"/>
            <a:ext cx="925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e 4">
            <a:extLst>
              <a:ext uri="{FF2B5EF4-FFF2-40B4-BE49-F238E27FC236}">
                <a16:creationId xmlns:a16="http://schemas.microsoft.com/office/drawing/2014/main" id="{511124DF-4E6D-0CC9-A3DA-617223158418}"/>
              </a:ext>
            </a:extLst>
          </p:cNvPr>
          <p:cNvSpPr/>
          <p:nvPr/>
        </p:nvSpPr>
        <p:spPr>
          <a:xfrm>
            <a:off x="5686938" y="358779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9D040E95-1CDD-4F42-B8B2-157983E3FA85}"/>
              </a:ext>
            </a:extLst>
          </p:cNvPr>
          <p:cNvSpPr/>
          <p:nvPr/>
        </p:nvSpPr>
        <p:spPr>
          <a:xfrm>
            <a:off x="6612369" y="358922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8B641D96-9B88-E347-BC48-470393CBF87E}"/>
              </a:ext>
            </a:extLst>
          </p:cNvPr>
          <p:cNvCxnSpPr>
            <a:cxnSpLocks/>
          </p:cNvCxnSpPr>
          <p:nvPr/>
        </p:nvCxnSpPr>
        <p:spPr>
          <a:xfrm>
            <a:off x="5752737" y="2123500"/>
            <a:ext cx="925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e 25">
            <a:extLst>
              <a:ext uri="{FF2B5EF4-FFF2-40B4-BE49-F238E27FC236}">
                <a16:creationId xmlns:a16="http://schemas.microsoft.com/office/drawing/2014/main" id="{596181B7-B7E4-DC6B-E351-AF713C15D466}"/>
              </a:ext>
            </a:extLst>
          </p:cNvPr>
          <p:cNvSpPr/>
          <p:nvPr/>
        </p:nvSpPr>
        <p:spPr>
          <a:xfrm>
            <a:off x="5702178" y="207903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947EB79-0DBF-2F2E-601F-228C9451E525}"/>
              </a:ext>
            </a:extLst>
          </p:cNvPr>
          <p:cNvSpPr/>
          <p:nvPr/>
        </p:nvSpPr>
        <p:spPr>
          <a:xfrm>
            <a:off x="6627609" y="208046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212CA514-C974-0815-4314-BF7E4C44A966}"/>
                  </a:ext>
                </a:extLst>
              </p:cNvPr>
              <p:cNvSpPr txBox="1"/>
              <p:nvPr/>
            </p:nvSpPr>
            <p:spPr>
              <a:xfrm>
                <a:off x="6291413" y="1701527"/>
                <a:ext cx="43615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2+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212CA514-C974-0815-4314-BF7E4C44A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413" y="1701527"/>
                <a:ext cx="4361545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78A9CAD-2156-CDAA-B542-EDC0FE6A6F92}"/>
              </a:ext>
            </a:extLst>
          </p:cNvPr>
          <p:cNvSpPr txBox="1"/>
          <p:nvPr/>
        </p:nvSpPr>
        <p:spPr>
          <a:xfrm>
            <a:off x="8291650" y="163911"/>
            <a:ext cx="3645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  <a:endParaRPr lang="en-GB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D35C80-F6AB-9AB8-A632-BD3775C6FA84}"/>
              </a:ext>
            </a:extLst>
          </p:cNvPr>
          <p:cNvCxnSpPr>
            <a:cxnSpLocks/>
          </p:cNvCxnSpPr>
          <p:nvPr/>
        </p:nvCxnSpPr>
        <p:spPr>
          <a:xfrm>
            <a:off x="6182553" y="1080108"/>
            <a:ext cx="301170" cy="6668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F6065B2-847C-2CE9-DDD6-064AF15E2C18}"/>
              </a:ext>
            </a:extLst>
          </p:cNvPr>
          <p:cNvSpPr txBox="1"/>
          <p:nvPr/>
        </p:nvSpPr>
        <p:spPr>
          <a:xfrm>
            <a:off x="5103507" y="718963"/>
            <a:ext cx="215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Tensione di Thevenin</a:t>
            </a:r>
            <a:endParaRPr lang="en-GB" dirty="0"/>
          </a:p>
        </p:txBody>
      </p:sp>
      <p:sp>
        <p:nvSpPr>
          <p:cNvPr id="37" name="Triangolo isoscele 1">
            <a:extLst>
              <a:ext uri="{FF2B5EF4-FFF2-40B4-BE49-F238E27FC236}">
                <a16:creationId xmlns:a16="http://schemas.microsoft.com/office/drawing/2014/main" id="{5B2DCF31-6D25-A1B1-6B3B-62ACEFA94695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2">
            <a:extLst>
              <a:ext uri="{FF2B5EF4-FFF2-40B4-BE49-F238E27FC236}">
                <a16:creationId xmlns:a16="http://schemas.microsoft.com/office/drawing/2014/main" id="{09136282-E36E-1AB8-60A6-B0B125AE499E}"/>
              </a:ext>
            </a:extLst>
          </p:cNvPr>
          <p:cNvSpPr txBox="1"/>
          <p:nvPr/>
        </p:nvSpPr>
        <p:spPr>
          <a:xfrm>
            <a:off x="2562626" y="165943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5508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0BD80B0B-5760-2AE5-3550-FC314B3ABA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499A7FA-9731-E4DD-7B93-F9B1BED1E65A}"/>
              </a:ext>
            </a:extLst>
          </p:cNvPr>
          <p:cNvCxnSpPr>
            <a:cxnSpLocks/>
          </p:cNvCxnSpPr>
          <p:nvPr/>
        </p:nvCxnSpPr>
        <p:spPr>
          <a:xfrm flipV="1">
            <a:off x="6662928" y="2285902"/>
            <a:ext cx="0" cy="1153039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CF293DD-327E-D156-AB1A-44AF8522A616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A1F2D0C-6C41-39DB-5808-78AD1B8492C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9059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DC04301-0422-B902-DB54-9A1D4542DE7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D699DF9-EEC5-42F2-D526-C3EF2E5E28EB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2D107A2-5A54-23E1-3A40-C9F10B15BE09}"/>
              </a:ext>
            </a:extLst>
          </p:cNvPr>
          <p:cNvCxnSpPr>
            <a:cxnSpLocks/>
          </p:cNvCxnSpPr>
          <p:nvPr/>
        </p:nvCxnSpPr>
        <p:spPr>
          <a:xfrm>
            <a:off x="5737497" y="3632260"/>
            <a:ext cx="925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e 4">
            <a:extLst>
              <a:ext uri="{FF2B5EF4-FFF2-40B4-BE49-F238E27FC236}">
                <a16:creationId xmlns:a16="http://schemas.microsoft.com/office/drawing/2014/main" id="{511124DF-4E6D-0CC9-A3DA-617223158418}"/>
              </a:ext>
            </a:extLst>
          </p:cNvPr>
          <p:cNvSpPr/>
          <p:nvPr/>
        </p:nvSpPr>
        <p:spPr>
          <a:xfrm>
            <a:off x="5686938" y="358779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9D040E95-1CDD-4F42-B8B2-157983E3FA85}"/>
              </a:ext>
            </a:extLst>
          </p:cNvPr>
          <p:cNvSpPr/>
          <p:nvPr/>
        </p:nvSpPr>
        <p:spPr>
          <a:xfrm>
            <a:off x="6612369" y="358922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8B641D96-9B88-E347-BC48-470393CBF87E}"/>
              </a:ext>
            </a:extLst>
          </p:cNvPr>
          <p:cNvCxnSpPr>
            <a:cxnSpLocks/>
          </p:cNvCxnSpPr>
          <p:nvPr/>
        </p:nvCxnSpPr>
        <p:spPr>
          <a:xfrm>
            <a:off x="5752737" y="2123500"/>
            <a:ext cx="925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e 25">
            <a:extLst>
              <a:ext uri="{FF2B5EF4-FFF2-40B4-BE49-F238E27FC236}">
                <a16:creationId xmlns:a16="http://schemas.microsoft.com/office/drawing/2014/main" id="{596181B7-B7E4-DC6B-E351-AF713C15D466}"/>
              </a:ext>
            </a:extLst>
          </p:cNvPr>
          <p:cNvSpPr/>
          <p:nvPr/>
        </p:nvSpPr>
        <p:spPr>
          <a:xfrm>
            <a:off x="5702178" y="207903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947EB79-0DBF-2F2E-601F-228C9451E525}"/>
              </a:ext>
            </a:extLst>
          </p:cNvPr>
          <p:cNvSpPr/>
          <p:nvPr/>
        </p:nvSpPr>
        <p:spPr>
          <a:xfrm>
            <a:off x="6627609" y="208046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23563600-0F8D-13E9-6233-FA1B6C28D3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5907" r="8601"/>
          <a:stretch/>
        </p:blipFill>
        <p:spPr>
          <a:xfrm>
            <a:off x="6743762" y="1611079"/>
            <a:ext cx="304736" cy="22028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DDA1F649-D389-375F-C021-9226AD683D10}"/>
                  </a:ext>
                </a:extLst>
              </p:cNvPr>
              <p:cNvSpPr txBox="1"/>
              <p:nvPr/>
            </p:nvSpPr>
            <p:spPr>
              <a:xfrm>
                <a:off x="6398993" y="1701527"/>
                <a:ext cx="43615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Th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2+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b="1" i="1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DDA1F649-D389-375F-C021-9226AD683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993" y="1701527"/>
                <a:ext cx="4361545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16194A0-5507-D647-B0AB-1B2B8857417F}"/>
              </a:ext>
            </a:extLst>
          </p:cNvPr>
          <p:cNvSpPr txBox="1"/>
          <p:nvPr/>
        </p:nvSpPr>
        <p:spPr>
          <a:xfrm>
            <a:off x="6986020" y="2677755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RL</a:t>
            </a:r>
            <a:endParaRPr lang="en-GB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Triangolo isoscele 33">
            <a:extLst>
              <a:ext uri="{FF2B5EF4-FFF2-40B4-BE49-F238E27FC236}">
                <a16:creationId xmlns:a16="http://schemas.microsoft.com/office/drawing/2014/main" id="{DA5D0BA5-8990-0BBD-06C9-75365A70FBEC}"/>
              </a:ext>
            </a:extLst>
          </p:cNvPr>
          <p:cNvSpPr/>
          <p:nvPr/>
        </p:nvSpPr>
        <p:spPr>
          <a:xfrm rot="10800000">
            <a:off x="6818188" y="3312158"/>
            <a:ext cx="217714" cy="154577"/>
          </a:xfrm>
          <a:prstGeom prst="triangl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E676525-E428-122C-B353-1586A61CA3B1}"/>
              </a:ext>
            </a:extLst>
          </p:cNvPr>
          <p:cNvSpPr txBox="1"/>
          <p:nvPr/>
        </p:nvSpPr>
        <p:spPr>
          <a:xfrm>
            <a:off x="7042833" y="320478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IOUT</a:t>
            </a:r>
            <a:endParaRPr lang="en-GB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Freccia in giù 40">
            <a:extLst>
              <a:ext uri="{FF2B5EF4-FFF2-40B4-BE49-F238E27FC236}">
                <a16:creationId xmlns:a16="http://schemas.microsoft.com/office/drawing/2014/main" id="{AFE9BC2D-DE0C-C917-8FED-ABDC5CE20193}"/>
              </a:ext>
            </a:extLst>
          </p:cNvPr>
          <p:cNvSpPr/>
          <p:nvPr/>
        </p:nvSpPr>
        <p:spPr>
          <a:xfrm rot="5400000">
            <a:off x="7862091" y="3078290"/>
            <a:ext cx="320101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02CD64A-621C-AF37-D7EC-D51A49651EAF}"/>
              </a:ext>
            </a:extLst>
          </p:cNvPr>
          <p:cNvSpPr txBox="1"/>
          <p:nvPr/>
        </p:nvSpPr>
        <p:spPr>
          <a:xfrm>
            <a:off x="8291650" y="163911"/>
            <a:ext cx="3645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173A94-A560-0DF2-16AC-FEE601EEB140}"/>
              </a:ext>
            </a:extLst>
          </p:cNvPr>
          <p:cNvCxnSpPr>
            <a:cxnSpLocks/>
          </p:cNvCxnSpPr>
          <p:nvPr/>
        </p:nvCxnSpPr>
        <p:spPr>
          <a:xfrm>
            <a:off x="6182553" y="1080108"/>
            <a:ext cx="301170" cy="6668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806A713-A3E7-0D00-1802-5851CACE0D57}"/>
              </a:ext>
            </a:extLst>
          </p:cNvPr>
          <p:cNvSpPr txBox="1"/>
          <p:nvPr/>
        </p:nvSpPr>
        <p:spPr>
          <a:xfrm>
            <a:off x="5103507" y="718963"/>
            <a:ext cx="215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Tensione di Thevenin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E28653-E61D-0580-29B4-079B3875F5A3}"/>
              </a:ext>
            </a:extLst>
          </p:cNvPr>
          <p:cNvSpPr txBox="1"/>
          <p:nvPr/>
        </p:nvSpPr>
        <p:spPr>
          <a:xfrm>
            <a:off x="8398981" y="2934423"/>
            <a:ext cx="3257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Il problema è questa corrente… che rende non valido il calcolo fatto finora… per esempio quella corrente I2+I3 non torna più…</a:t>
            </a:r>
            <a:endParaRPr lang="en-GB" i="1" dirty="0"/>
          </a:p>
        </p:txBody>
      </p:sp>
      <p:sp>
        <p:nvSpPr>
          <p:cNvPr id="45" name="Triangolo isoscele 1">
            <a:extLst>
              <a:ext uri="{FF2B5EF4-FFF2-40B4-BE49-F238E27FC236}">
                <a16:creationId xmlns:a16="http://schemas.microsoft.com/office/drawing/2014/main" id="{20BA75C3-9C7C-ADCD-2FC9-BC0F3BB20EAA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CasellaDiTesto 2">
            <a:extLst>
              <a:ext uri="{FF2B5EF4-FFF2-40B4-BE49-F238E27FC236}">
                <a16:creationId xmlns:a16="http://schemas.microsoft.com/office/drawing/2014/main" id="{9A3F5259-E973-5A05-B51B-36A75988DCD5}"/>
              </a:ext>
            </a:extLst>
          </p:cNvPr>
          <p:cNvSpPr txBox="1"/>
          <p:nvPr/>
        </p:nvSpPr>
        <p:spPr>
          <a:xfrm>
            <a:off x="2470513" y="163228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I2+I3??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812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0BD80B0B-5760-2AE5-3550-FC314B3ABA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499A7FA-9731-E4DD-7B93-F9B1BED1E65A}"/>
              </a:ext>
            </a:extLst>
          </p:cNvPr>
          <p:cNvCxnSpPr>
            <a:cxnSpLocks/>
          </p:cNvCxnSpPr>
          <p:nvPr/>
        </p:nvCxnSpPr>
        <p:spPr>
          <a:xfrm flipV="1">
            <a:off x="6662928" y="2285902"/>
            <a:ext cx="0" cy="1153039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CF293DD-327E-D156-AB1A-44AF8522A616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A1F2D0C-6C41-39DB-5808-78AD1B8492C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4250" cy="7716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4250" cy="7716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DC04301-0422-B902-DB54-9A1D4542DE7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D699DF9-EEC5-42F2-D526-C3EF2E5E28EB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2D107A2-5A54-23E1-3A40-C9F10B15BE09}"/>
              </a:ext>
            </a:extLst>
          </p:cNvPr>
          <p:cNvCxnSpPr>
            <a:cxnSpLocks/>
          </p:cNvCxnSpPr>
          <p:nvPr/>
        </p:nvCxnSpPr>
        <p:spPr>
          <a:xfrm>
            <a:off x="5737497" y="3632260"/>
            <a:ext cx="925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e 4">
            <a:extLst>
              <a:ext uri="{FF2B5EF4-FFF2-40B4-BE49-F238E27FC236}">
                <a16:creationId xmlns:a16="http://schemas.microsoft.com/office/drawing/2014/main" id="{511124DF-4E6D-0CC9-A3DA-617223158418}"/>
              </a:ext>
            </a:extLst>
          </p:cNvPr>
          <p:cNvSpPr/>
          <p:nvPr/>
        </p:nvSpPr>
        <p:spPr>
          <a:xfrm>
            <a:off x="5686938" y="358779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9D040E95-1CDD-4F42-B8B2-157983E3FA85}"/>
              </a:ext>
            </a:extLst>
          </p:cNvPr>
          <p:cNvSpPr/>
          <p:nvPr/>
        </p:nvSpPr>
        <p:spPr>
          <a:xfrm>
            <a:off x="6612369" y="358922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8B641D96-9B88-E347-BC48-470393CBF87E}"/>
              </a:ext>
            </a:extLst>
          </p:cNvPr>
          <p:cNvCxnSpPr>
            <a:cxnSpLocks/>
          </p:cNvCxnSpPr>
          <p:nvPr/>
        </p:nvCxnSpPr>
        <p:spPr>
          <a:xfrm>
            <a:off x="5752737" y="2123500"/>
            <a:ext cx="925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e 25">
            <a:extLst>
              <a:ext uri="{FF2B5EF4-FFF2-40B4-BE49-F238E27FC236}">
                <a16:creationId xmlns:a16="http://schemas.microsoft.com/office/drawing/2014/main" id="{596181B7-B7E4-DC6B-E351-AF713C15D466}"/>
              </a:ext>
            </a:extLst>
          </p:cNvPr>
          <p:cNvSpPr/>
          <p:nvPr/>
        </p:nvSpPr>
        <p:spPr>
          <a:xfrm>
            <a:off x="5702178" y="207903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947EB79-0DBF-2F2E-601F-228C9451E525}"/>
              </a:ext>
            </a:extLst>
          </p:cNvPr>
          <p:cNvSpPr/>
          <p:nvPr/>
        </p:nvSpPr>
        <p:spPr>
          <a:xfrm>
            <a:off x="6627609" y="208046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23563600-0F8D-13E9-6233-FA1B6C28D3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5907" r="8601"/>
          <a:stretch/>
        </p:blipFill>
        <p:spPr>
          <a:xfrm>
            <a:off x="6743762" y="1611079"/>
            <a:ext cx="304736" cy="22028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DDA1F649-D389-375F-C021-9226AD683D10}"/>
                  </a:ext>
                </a:extLst>
              </p:cNvPr>
              <p:cNvSpPr txBox="1"/>
              <p:nvPr/>
            </p:nvSpPr>
            <p:spPr>
              <a:xfrm>
                <a:off x="6356987" y="1702170"/>
                <a:ext cx="25380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t-IT" b="1" i="0" smtClean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𝐈𝐎𝐔𝐓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DDA1F649-D389-375F-C021-9226AD683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87" y="1702170"/>
                <a:ext cx="2538010" cy="369332"/>
              </a:xfrm>
              <a:prstGeom prst="rect">
                <a:avLst/>
              </a:prstGeom>
              <a:blipFill>
                <a:blip r:embed="rId5"/>
                <a:stretch>
                  <a:fillRect r="-48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16194A0-5507-D647-B0AB-1B2B8857417F}"/>
              </a:ext>
            </a:extLst>
          </p:cNvPr>
          <p:cNvSpPr txBox="1"/>
          <p:nvPr/>
        </p:nvSpPr>
        <p:spPr>
          <a:xfrm>
            <a:off x="6986020" y="2677755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RL</a:t>
            </a:r>
            <a:endParaRPr lang="en-GB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Triangolo isoscele 33">
            <a:extLst>
              <a:ext uri="{FF2B5EF4-FFF2-40B4-BE49-F238E27FC236}">
                <a16:creationId xmlns:a16="http://schemas.microsoft.com/office/drawing/2014/main" id="{DA5D0BA5-8990-0BBD-06C9-75365A70FBEC}"/>
              </a:ext>
            </a:extLst>
          </p:cNvPr>
          <p:cNvSpPr/>
          <p:nvPr/>
        </p:nvSpPr>
        <p:spPr>
          <a:xfrm rot="10800000">
            <a:off x="6818188" y="3312158"/>
            <a:ext cx="217714" cy="154577"/>
          </a:xfrm>
          <a:prstGeom prst="triangl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E676525-E428-122C-B353-1586A61CA3B1}"/>
              </a:ext>
            </a:extLst>
          </p:cNvPr>
          <p:cNvSpPr txBox="1"/>
          <p:nvPr/>
        </p:nvSpPr>
        <p:spPr>
          <a:xfrm>
            <a:off x="7042833" y="320478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IOUT</a:t>
            </a:r>
            <a:endParaRPr lang="en-GB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1D826C4-C3E3-6306-FFEF-BB8DF05B918D}"/>
              </a:ext>
            </a:extLst>
          </p:cNvPr>
          <p:cNvSpPr txBox="1"/>
          <p:nvPr/>
        </p:nvSpPr>
        <p:spPr>
          <a:xfrm>
            <a:off x="8291650" y="163911"/>
            <a:ext cx="3645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  <a:endParaRPr lang="en-GB" dirty="0"/>
          </a:p>
        </p:txBody>
      </p:sp>
      <p:sp>
        <p:nvSpPr>
          <p:cNvPr id="30" name="Freccia in giù 40">
            <a:extLst>
              <a:ext uri="{FF2B5EF4-FFF2-40B4-BE49-F238E27FC236}">
                <a16:creationId xmlns:a16="http://schemas.microsoft.com/office/drawing/2014/main" id="{A1993C56-DDF9-CA73-303C-F569168C4E44}"/>
              </a:ext>
            </a:extLst>
          </p:cNvPr>
          <p:cNvSpPr/>
          <p:nvPr/>
        </p:nvSpPr>
        <p:spPr>
          <a:xfrm rot="5400000">
            <a:off x="7862091" y="3078290"/>
            <a:ext cx="320101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riangolo isoscele 1">
            <a:extLst>
              <a:ext uri="{FF2B5EF4-FFF2-40B4-BE49-F238E27FC236}">
                <a16:creationId xmlns:a16="http://schemas.microsoft.com/office/drawing/2014/main" id="{72A3E3FD-A563-6890-D610-CCFA09682294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CasellaDiTesto 2">
            <a:extLst>
              <a:ext uri="{FF2B5EF4-FFF2-40B4-BE49-F238E27FC236}">
                <a16:creationId xmlns:a16="http://schemas.microsoft.com/office/drawing/2014/main" id="{2B5F497D-00F5-0ADD-463D-53A19311D7A5}"/>
              </a:ext>
            </a:extLst>
          </p:cNvPr>
          <p:cNvSpPr txBox="1"/>
          <p:nvPr/>
        </p:nvSpPr>
        <p:spPr>
          <a:xfrm>
            <a:off x="2470513" y="163228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I2+I3??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FC1A6F-BF13-AAFD-E564-83F7A5CD30DC}"/>
              </a:ext>
            </a:extLst>
          </p:cNvPr>
          <p:cNvSpPr txBox="1"/>
          <p:nvPr/>
        </p:nvSpPr>
        <p:spPr>
          <a:xfrm>
            <a:off x="8398981" y="2934423"/>
            <a:ext cx="3257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Il problema è questa corrente… che rende non valido il calcolo fatto finora… per esempio quella corrente I2+I3 non torna più…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778579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magine 28">
            <a:extLst>
              <a:ext uri="{FF2B5EF4-FFF2-40B4-BE49-F238E27FC236}">
                <a16:creationId xmlns:a16="http://schemas.microsoft.com/office/drawing/2014/main" id="{23563600-0F8D-13E9-6233-FA1B6C28D3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297" t="25036" r="57810" b="10267"/>
          <a:stretch/>
        </p:blipFill>
        <p:spPr>
          <a:xfrm>
            <a:off x="6692482" y="2162592"/>
            <a:ext cx="770877" cy="1425205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BD80B0B-5760-2AE5-3550-FC314B3ABA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499A7FA-9731-E4DD-7B93-F9B1BED1E65A}"/>
              </a:ext>
            </a:extLst>
          </p:cNvPr>
          <p:cNvCxnSpPr>
            <a:cxnSpLocks/>
          </p:cNvCxnSpPr>
          <p:nvPr/>
        </p:nvCxnSpPr>
        <p:spPr>
          <a:xfrm flipV="1">
            <a:off x="6662928" y="2285902"/>
            <a:ext cx="0" cy="1153039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CF293DD-327E-D156-AB1A-44AF8522A616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A1F2D0C-6C41-39DB-5808-78AD1B8492C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5579476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 b="1" i="0" smtClean="0">
                                  <a:solidFill>
                                    <a:srgbClr val="008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1" i="0" smtClean="0">
                                  <a:solidFill>
                                    <a:srgbClr val="008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𝐑𝟑</m:t>
                              </m:r>
                              <m:r>
                                <a:rPr lang="it-IT" b="1" i="1" smtClean="0">
                                  <a:solidFill>
                                    <a:srgbClr val="008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it-IT" b="1" i="0" smtClean="0">
                                  <a:solidFill>
                                    <a:srgbClr val="008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𝐈𝐎𝐔𝐓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5579476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DC04301-0422-B902-DB54-9A1D4542DE7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D699DF9-EEC5-42F2-D526-C3EF2E5E28EB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2D107A2-5A54-23E1-3A40-C9F10B15BE09}"/>
              </a:ext>
            </a:extLst>
          </p:cNvPr>
          <p:cNvCxnSpPr>
            <a:cxnSpLocks/>
          </p:cNvCxnSpPr>
          <p:nvPr/>
        </p:nvCxnSpPr>
        <p:spPr>
          <a:xfrm>
            <a:off x="5737497" y="3632260"/>
            <a:ext cx="13071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e 4">
            <a:extLst>
              <a:ext uri="{FF2B5EF4-FFF2-40B4-BE49-F238E27FC236}">
                <a16:creationId xmlns:a16="http://schemas.microsoft.com/office/drawing/2014/main" id="{511124DF-4E6D-0CC9-A3DA-617223158418}"/>
              </a:ext>
            </a:extLst>
          </p:cNvPr>
          <p:cNvSpPr/>
          <p:nvPr/>
        </p:nvSpPr>
        <p:spPr>
          <a:xfrm>
            <a:off x="5686938" y="358779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9D040E95-1CDD-4F42-B8B2-157983E3FA85}"/>
              </a:ext>
            </a:extLst>
          </p:cNvPr>
          <p:cNvSpPr/>
          <p:nvPr/>
        </p:nvSpPr>
        <p:spPr>
          <a:xfrm>
            <a:off x="6612369" y="358922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8B641D96-9B88-E347-BC48-470393CBF87E}"/>
              </a:ext>
            </a:extLst>
          </p:cNvPr>
          <p:cNvCxnSpPr>
            <a:cxnSpLocks/>
          </p:cNvCxnSpPr>
          <p:nvPr/>
        </p:nvCxnSpPr>
        <p:spPr>
          <a:xfrm>
            <a:off x="5752737" y="2123500"/>
            <a:ext cx="12919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e 25">
            <a:extLst>
              <a:ext uri="{FF2B5EF4-FFF2-40B4-BE49-F238E27FC236}">
                <a16:creationId xmlns:a16="http://schemas.microsoft.com/office/drawing/2014/main" id="{596181B7-B7E4-DC6B-E351-AF713C15D466}"/>
              </a:ext>
            </a:extLst>
          </p:cNvPr>
          <p:cNvSpPr/>
          <p:nvPr/>
        </p:nvSpPr>
        <p:spPr>
          <a:xfrm>
            <a:off x="5702178" y="207903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947EB79-0DBF-2F2E-601F-228C9451E525}"/>
              </a:ext>
            </a:extLst>
          </p:cNvPr>
          <p:cNvSpPr/>
          <p:nvPr/>
        </p:nvSpPr>
        <p:spPr>
          <a:xfrm>
            <a:off x="6627609" y="208046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E676525-E428-122C-B353-1586A61CA3B1}"/>
              </a:ext>
            </a:extLst>
          </p:cNvPr>
          <p:cNvSpPr txBox="1"/>
          <p:nvPr/>
        </p:nvSpPr>
        <p:spPr>
          <a:xfrm>
            <a:off x="7382547" y="2712523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IOUT</a:t>
            </a:r>
            <a:endParaRPr lang="en-GB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74682F45-894E-7926-4DD4-7FCC3D09A38D}"/>
                  </a:ext>
                </a:extLst>
              </p:cNvPr>
              <p:cNvSpPr txBox="1"/>
              <p:nvPr/>
            </p:nvSpPr>
            <p:spPr>
              <a:xfrm>
                <a:off x="6356987" y="1702170"/>
                <a:ext cx="25380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t-IT" b="1" i="0" smtClean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𝐈𝐎𝐔𝐓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74682F45-894E-7926-4DD4-7FCC3D09A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87" y="1702170"/>
                <a:ext cx="2538010" cy="369332"/>
              </a:xfrm>
              <a:prstGeom prst="rect">
                <a:avLst/>
              </a:prstGeom>
              <a:blipFill>
                <a:blip r:embed="rId5"/>
                <a:stretch>
                  <a:fillRect r="-48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A800BEE5-ED3F-379C-CD9F-F3DDC087B96A}"/>
              </a:ext>
            </a:extLst>
          </p:cNvPr>
          <p:cNvSpPr txBox="1"/>
          <p:nvPr/>
        </p:nvSpPr>
        <p:spPr>
          <a:xfrm>
            <a:off x="8291650" y="163911"/>
            <a:ext cx="3645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  <a:endParaRPr lang="en-GB" dirty="0"/>
          </a:p>
        </p:txBody>
      </p:sp>
      <p:sp>
        <p:nvSpPr>
          <p:cNvPr id="28" name="Triangolo isoscele 1">
            <a:extLst>
              <a:ext uri="{FF2B5EF4-FFF2-40B4-BE49-F238E27FC236}">
                <a16:creationId xmlns:a16="http://schemas.microsoft.com/office/drawing/2014/main" id="{697D2AEE-240F-BB50-C587-026FE4DC12D2}"/>
              </a:ext>
            </a:extLst>
          </p:cNvPr>
          <p:cNvSpPr/>
          <p:nvPr/>
        </p:nvSpPr>
        <p:spPr>
          <a:xfrm rot="5400000">
            <a:off x="2863395" y="2025871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asellaDiTesto 2">
            <a:extLst>
              <a:ext uri="{FF2B5EF4-FFF2-40B4-BE49-F238E27FC236}">
                <a16:creationId xmlns:a16="http://schemas.microsoft.com/office/drawing/2014/main" id="{FDE4AEDB-B0F9-0CC0-536C-2556B8511874}"/>
              </a:ext>
            </a:extLst>
          </p:cNvPr>
          <p:cNvSpPr txBox="1"/>
          <p:nvPr/>
        </p:nvSpPr>
        <p:spPr>
          <a:xfrm>
            <a:off x="2492343" y="1340464"/>
            <a:ext cx="78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I2+I3</a:t>
            </a:r>
          </a:p>
          <a:p>
            <a:r>
              <a:rPr lang="it-IT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+IOUT</a:t>
            </a:r>
            <a:endParaRPr lang="en-GB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C41DC5-1FB5-7D00-F6A3-687A904EBFBE}"/>
              </a:ext>
            </a:extLst>
          </p:cNvPr>
          <p:cNvSpPr txBox="1"/>
          <p:nvPr/>
        </p:nvSpPr>
        <p:spPr>
          <a:xfrm>
            <a:off x="7091502" y="4257808"/>
            <a:ext cx="38629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IOUT, la corrente assorbita dall’output entra in generale fra le forzanti… </a:t>
            </a:r>
          </a:p>
          <a:p>
            <a:endParaRPr lang="it-IT" i="1" dirty="0"/>
          </a:p>
          <a:p>
            <a:r>
              <a:rPr lang="it-IT" i="1" dirty="0"/>
              <a:t>Qui fatto calcolo esplicito, ma non è davvero rilevante COME entri… ma che impatto abbia su Vout</a:t>
            </a:r>
            <a:endParaRPr lang="en-GB" i="1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179F20C-9006-F066-F279-CF85867A7C4A}"/>
              </a:ext>
            </a:extLst>
          </p:cNvPr>
          <p:cNvCxnSpPr>
            <a:cxnSpLocks/>
          </p:cNvCxnSpPr>
          <p:nvPr/>
        </p:nvCxnSpPr>
        <p:spPr>
          <a:xfrm>
            <a:off x="6692482" y="1166697"/>
            <a:ext cx="531633" cy="5279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2AEECB4-B2A1-4EB3-176D-A94EA6965C01}"/>
              </a:ext>
            </a:extLst>
          </p:cNvPr>
          <p:cNvCxnSpPr>
            <a:cxnSpLocks/>
          </p:cNvCxnSpPr>
          <p:nvPr/>
        </p:nvCxnSpPr>
        <p:spPr>
          <a:xfrm>
            <a:off x="7715330" y="817560"/>
            <a:ext cx="172726" cy="8517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A0D0974-0D9B-0119-27A2-829AB7356173}"/>
              </a:ext>
            </a:extLst>
          </p:cNvPr>
          <p:cNvSpPr txBox="1"/>
          <p:nvPr/>
        </p:nvSpPr>
        <p:spPr>
          <a:xfrm>
            <a:off x="5221317" y="782750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Causato da </a:t>
            </a:r>
          </a:p>
          <a:p>
            <a:r>
              <a:rPr lang="it-IT" dirty="0">
                <a:solidFill>
                  <a:srgbClr val="FF0000"/>
                </a:solidFill>
              </a:rPr>
              <a:t>VS1, IS1 e VS2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3C3B42-E7D1-2CF8-79F7-5C095124D676}"/>
              </a:ext>
            </a:extLst>
          </p:cNvPr>
          <p:cNvSpPr txBox="1"/>
          <p:nvPr/>
        </p:nvSpPr>
        <p:spPr>
          <a:xfrm>
            <a:off x="6612369" y="117744"/>
            <a:ext cx="1732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Causato da IOUT</a:t>
            </a:r>
          </a:p>
          <a:p>
            <a:r>
              <a:rPr lang="it-IT" b="1" dirty="0">
                <a:solidFill>
                  <a:srgbClr val="FF0000"/>
                </a:solidFill>
              </a:rPr>
              <a:t>QUANTO VALE?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0" name="Freccia in giù 40">
            <a:extLst>
              <a:ext uri="{FF2B5EF4-FFF2-40B4-BE49-F238E27FC236}">
                <a16:creationId xmlns:a16="http://schemas.microsoft.com/office/drawing/2014/main" id="{5BEC7C9F-F6C2-EBCF-B7E8-BAC5279F345F}"/>
              </a:ext>
            </a:extLst>
          </p:cNvPr>
          <p:cNvSpPr/>
          <p:nvPr/>
        </p:nvSpPr>
        <p:spPr>
          <a:xfrm rot="5400000">
            <a:off x="8258343" y="2601493"/>
            <a:ext cx="320101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9F1EE2-65D3-EAFA-F0F4-6953D8C77969}"/>
              </a:ext>
            </a:extLst>
          </p:cNvPr>
          <p:cNvSpPr txBox="1"/>
          <p:nvPr/>
        </p:nvSpPr>
        <p:spPr>
          <a:xfrm>
            <a:off x="8795233" y="2602357"/>
            <a:ext cx="2291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La posso vedere come una nuova forzante!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837295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magine 28">
            <a:extLst>
              <a:ext uri="{FF2B5EF4-FFF2-40B4-BE49-F238E27FC236}">
                <a16:creationId xmlns:a16="http://schemas.microsoft.com/office/drawing/2014/main" id="{23563600-0F8D-13E9-6233-FA1B6C28D3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297" t="25036" r="57810" b="10267"/>
          <a:stretch/>
        </p:blipFill>
        <p:spPr>
          <a:xfrm>
            <a:off x="6692482" y="2162592"/>
            <a:ext cx="770877" cy="1425205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BD80B0B-5760-2AE5-3550-FC314B3ABA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499A7FA-9731-E4DD-7B93-F9B1BED1E65A}"/>
              </a:ext>
            </a:extLst>
          </p:cNvPr>
          <p:cNvCxnSpPr>
            <a:cxnSpLocks/>
          </p:cNvCxnSpPr>
          <p:nvPr/>
        </p:nvCxnSpPr>
        <p:spPr>
          <a:xfrm flipV="1">
            <a:off x="6662928" y="2285902"/>
            <a:ext cx="0" cy="1153039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5095369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b="1" i="0" smtClean="0">
                                  <a:solidFill>
                                    <a:srgbClr val="008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1" i="0" smtClean="0">
                                  <a:solidFill>
                                    <a:srgbClr val="008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𝐑𝟑</m:t>
                              </m:r>
                              <m:r>
                                <a:rPr lang="it-IT" b="1" i="1" smtClean="0">
                                  <a:solidFill>
                                    <a:srgbClr val="008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it-IT" b="1" i="0" smtClean="0">
                                  <a:solidFill>
                                    <a:srgbClr val="008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𝐈𝐎𝐔𝐓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5095369" cy="7478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2B2B66D-B992-86C6-5618-FDBDCEB95DC7}"/>
                  </a:ext>
                </a:extLst>
              </p:cNvPr>
              <p:cNvSpPr txBox="1"/>
              <p:nvPr/>
            </p:nvSpPr>
            <p:spPr>
              <a:xfrm>
                <a:off x="495302" y="1286067"/>
                <a:ext cx="27783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2+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2B2B66D-B992-86C6-5618-FDBDCEB95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2" y="1286067"/>
                <a:ext cx="277835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DC04301-0422-B902-DB54-9A1D4542DE7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D699DF9-EEC5-42F2-D526-C3EF2E5E28EB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2D107A2-5A54-23E1-3A40-C9F10B15BE09}"/>
              </a:ext>
            </a:extLst>
          </p:cNvPr>
          <p:cNvCxnSpPr>
            <a:cxnSpLocks/>
          </p:cNvCxnSpPr>
          <p:nvPr/>
        </p:nvCxnSpPr>
        <p:spPr>
          <a:xfrm>
            <a:off x="5737497" y="3632260"/>
            <a:ext cx="13071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e 4">
            <a:extLst>
              <a:ext uri="{FF2B5EF4-FFF2-40B4-BE49-F238E27FC236}">
                <a16:creationId xmlns:a16="http://schemas.microsoft.com/office/drawing/2014/main" id="{511124DF-4E6D-0CC9-A3DA-617223158418}"/>
              </a:ext>
            </a:extLst>
          </p:cNvPr>
          <p:cNvSpPr/>
          <p:nvPr/>
        </p:nvSpPr>
        <p:spPr>
          <a:xfrm>
            <a:off x="5686938" y="358779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9D040E95-1CDD-4F42-B8B2-157983E3FA85}"/>
              </a:ext>
            </a:extLst>
          </p:cNvPr>
          <p:cNvSpPr/>
          <p:nvPr/>
        </p:nvSpPr>
        <p:spPr>
          <a:xfrm>
            <a:off x="6612369" y="358922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8B641D96-9B88-E347-BC48-470393CBF87E}"/>
              </a:ext>
            </a:extLst>
          </p:cNvPr>
          <p:cNvCxnSpPr>
            <a:cxnSpLocks/>
          </p:cNvCxnSpPr>
          <p:nvPr/>
        </p:nvCxnSpPr>
        <p:spPr>
          <a:xfrm>
            <a:off x="5752737" y="2123500"/>
            <a:ext cx="12919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e 25">
            <a:extLst>
              <a:ext uri="{FF2B5EF4-FFF2-40B4-BE49-F238E27FC236}">
                <a16:creationId xmlns:a16="http://schemas.microsoft.com/office/drawing/2014/main" id="{596181B7-B7E4-DC6B-E351-AF713C15D466}"/>
              </a:ext>
            </a:extLst>
          </p:cNvPr>
          <p:cNvSpPr/>
          <p:nvPr/>
        </p:nvSpPr>
        <p:spPr>
          <a:xfrm>
            <a:off x="5702178" y="207903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947EB79-0DBF-2F2E-601F-228C9451E525}"/>
              </a:ext>
            </a:extLst>
          </p:cNvPr>
          <p:cNvSpPr/>
          <p:nvPr/>
        </p:nvSpPr>
        <p:spPr>
          <a:xfrm>
            <a:off x="6627609" y="208046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E676525-E428-122C-B353-1586A61CA3B1}"/>
              </a:ext>
            </a:extLst>
          </p:cNvPr>
          <p:cNvSpPr txBox="1"/>
          <p:nvPr/>
        </p:nvSpPr>
        <p:spPr>
          <a:xfrm>
            <a:off x="7382547" y="2712523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IOUT</a:t>
            </a:r>
            <a:endParaRPr lang="en-GB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74682F45-894E-7926-4DD4-7FCC3D09A38D}"/>
                  </a:ext>
                </a:extLst>
              </p:cNvPr>
              <p:cNvSpPr txBox="1"/>
              <p:nvPr/>
            </p:nvSpPr>
            <p:spPr>
              <a:xfrm>
                <a:off x="5800850" y="1702170"/>
                <a:ext cx="40037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1" i="0" smtClean="0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𝐈𝐎𝐔𝐓</m:t>
                          </m:r>
                        </m:e>
                      </m:d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it-IT" b="1" i="1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it-IT" b="1" i="1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𝑹</m:t>
                          </m:r>
                        </m:e>
                        <m:sub>
                          <m:r>
                            <a:rPr lang="it-IT" b="1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𝐓𝐡</m:t>
                          </m:r>
                        </m:sub>
                      </m:sSub>
                      <m:r>
                        <a:rPr lang="it-IT" b="1" i="1" smtClean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⋅</m:t>
                      </m:r>
                      <m:r>
                        <a:rPr lang="it-IT" b="1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𝐈𝐎𝐔𝐓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74682F45-894E-7926-4DD4-7FCC3D09A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850" y="1702170"/>
                <a:ext cx="4003788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53EB4EE6-451D-97BE-2E15-05AB458DCEA8}"/>
              </a:ext>
            </a:extLst>
          </p:cNvPr>
          <p:cNvSpPr/>
          <p:nvPr/>
        </p:nvSpPr>
        <p:spPr>
          <a:xfrm>
            <a:off x="799550" y="2284497"/>
            <a:ext cx="1273292" cy="9573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F50C2598-1268-4458-F4BA-F41A1DBBC74F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CCF9DC21-B07C-A006-97E1-ECF3AC89B76E}"/>
              </a:ext>
            </a:extLst>
          </p:cNvPr>
          <p:cNvSpPr/>
          <p:nvPr/>
        </p:nvSpPr>
        <p:spPr>
          <a:xfrm>
            <a:off x="4335417" y="1449984"/>
            <a:ext cx="1273292" cy="9573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D85E9BDB-BC5A-6FED-A514-E6AF76B0E6EA}"/>
              </a:ext>
            </a:extLst>
          </p:cNvPr>
          <p:cNvCxnSpPr/>
          <p:nvPr/>
        </p:nvCxnSpPr>
        <p:spPr>
          <a:xfrm>
            <a:off x="4347609" y="2118087"/>
            <a:ext cx="12455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02CF518-118A-FD0D-F0B0-2A5ACDA1E42B}"/>
              </a:ext>
            </a:extLst>
          </p:cNvPr>
          <p:cNvSpPr/>
          <p:nvPr/>
        </p:nvSpPr>
        <p:spPr>
          <a:xfrm>
            <a:off x="2253614" y="2540000"/>
            <a:ext cx="1273292" cy="6720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BD1A9672-B888-84DA-14DC-7A5A056E3F9D}"/>
                  </a:ext>
                </a:extLst>
              </p:cNvPr>
              <p:cNvSpPr txBox="1"/>
              <p:nvPr/>
            </p:nvSpPr>
            <p:spPr>
              <a:xfrm>
                <a:off x="7734755" y="2676326"/>
                <a:ext cx="4003788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2"/>
                <a:r>
                  <a:rPr lang="it-IT" b="1" dirty="0">
                    <a:solidFill>
                      <a:srgbClr val="008000"/>
                    </a:solidFill>
                  </a:rPr>
                  <a:t>Resistenza «vista»</a:t>
                </a:r>
              </a:p>
              <a:p>
                <a:pPr marL="1257300" lvl="2" indent="-342900">
                  <a:buAutoNum type="arabicPeriod"/>
                </a:pPr>
                <a:r>
                  <a:rPr lang="it-IT" dirty="0"/>
                  <a:t>Sorgenti V </a:t>
                </a:r>
                <a:r>
                  <a:rPr lang="it-IT" dirty="0">
                    <a:sym typeface="Wingdings" panose="05000000000000000000" pitchFamily="2" charset="2"/>
                  </a:rPr>
                  <a:t> corto</a:t>
                </a:r>
              </a:p>
              <a:p>
                <a:pPr marL="1257300" lvl="2" indent="-342900">
                  <a:buAutoNum type="arabicPeriod"/>
                </a:pPr>
                <a:r>
                  <a:rPr lang="it-IT" dirty="0">
                    <a:sym typeface="Wingdings" panose="05000000000000000000" pitchFamily="2" charset="2"/>
                  </a:rPr>
                  <a:t>Sorgenti I  aperto</a:t>
                </a:r>
              </a:p>
              <a:p>
                <a:pPr marL="1257300" lvl="2" indent="-342900">
                  <a:buAutoNum type="arabicPeriod"/>
                </a:pPr>
                <a:r>
                  <a:rPr lang="it-IT" dirty="0">
                    <a:sym typeface="Wingdings" panose="05000000000000000000" pitchFamily="2" charset="2"/>
                  </a:rPr>
                  <a:t>Calcolare resistenza</a:t>
                </a:r>
              </a:p>
              <a:p>
                <a:pPr marL="342900" indent="-342900">
                  <a:buAutoNum type="arabicPeriod"/>
                </a:pPr>
                <a:endParaRPr lang="it-IT" dirty="0">
                  <a:sym typeface="Wingdings" panose="05000000000000000000" pitchFamily="2" charset="2"/>
                </a:endParaRPr>
              </a:p>
              <a:p>
                <a:pPr marL="342900" indent="-342900">
                  <a:buAutoNum type="arabicPeriod"/>
                </a:pPr>
                <a:endParaRPr lang="it-IT" dirty="0">
                  <a:sym typeface="Wingdings" panose="05000000000000000000" pitchFamily="2" charset="2"/>
                </a:endParaRPr>
              </a:p>
              <a:p>
                <a:r>
                  <a:rPr lang="it-IT" dirty="0">
                    <a:sym typeface="Wingdings" panose="05000000000000000000" pitchFamily="2" charset="2"/>
                  </a:rPr>
                  <a:t>Qui: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  <m:sub>
                        <m:r>
                          <a:rPr lang="it-IT" b="1" i="0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𝐓𝐡</m:t>
                        </m:r>
                      </m:sub>
                    </m:sSub>
                    <m:r>
                      <a:rPr lang="it-IT" b="1" i="1" smtClean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it-IT" b="1" i="1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it-IT" b="1" i="0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𝐑𝟏</m:t>
                        </m:r>
                        <m:r>
                          <a:rPr lang="it-IT" b="1" i="0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it-IT" b="1" i="0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𝐑𝟐</m:t>
                        </m:r>
                        <m:r>
                          <a:rPr lang="it-IT" b="1" i="0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it-IT" b="1" i="0" smtClean="0">
                            <a:solidFill>
                              <a:srgbClr val="008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𝐑𝟑</m:t>
                        </m:r>
                      </m:e>
                    </m:d>
                    <m:r>
                      <a:rPr lang="it-IT" b="1" i="1" smtClean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∥</m:t>
                    </m:r>
                    <m:r>
                      <a:rPr lang="it-IT" b="1" i="0" smtClean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𝐑𝟒</m:t>
                    </m:r>
                    <m:r>
                      <a:rPr lang="it-IT" b="1" i="1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∥</m:t>
                    </m:r>
                    <m:r>
                      <a:rPr lang="it-IT" b="1" i="0" smtClean="0"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𝐑𝟓</m:t>
                    </m:r>
                  </m:oMath>
                </a14:m>
                <a:endParaRPr lang="it-IT" b="1" dirty="0"/>
              </a:p>
            </p:txBody>
          </p:sp>
        </mc:Choice>
        <mc:Fallback xmlns="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BD1A9672-B888-84DA-14DC-7A5A056E3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755" y="2676326"/>
                <a:ext cx="4003788" cy="2031325"/>
              </a:xfrm>
              <a:prstGeom prst="rect">
                <a:avLst/>
              </a:prstGeom>
              <a:blipFill>
                <a:blip r:embed="rId6"/>
                <a:stretch>
                  <a:fillRect l="-1370" t="-1502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136057E-1177-0761-CE99-CF80B7FE92A0}"/>
              </a:ext>
            </a:extLst>
          </p:cNvPr>
          <p:cNvSpPr txBox="1"/>
          <p:nvPr/>
        </p:nvSpPr>
        <p:spPr>
          <a:xfrm>
            <a:off x="8291650" y="163911"/>
            <a:ext cx="3645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  <a:endParaRPr lang="en-GB" dirty="0"/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B64AD190-7A3E-0BF2-B1CD-C03496C2DB72}"/>
              </a:ext>
            </a:extLst>
          </p:cNvPr>
          <p:cNvSpPr/>
          <p:nvPr/>
        </p:nvSpPr>
        <p:spPr>
          <a:xfrm>
            <a:off x="8536998" y="2600288"/>
            <a:ext cx="2562439" cy="1336655"/>
          </a:xfrm>
          <a:prstGeom prst="round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420AC-96C8-B2E5-2D8F-71E0D381EDAA}"/>
              </a:ext>
            </a:extLst>
          </p:cNvPr>
          <p:cNvSpPr txBox="1"/>
          <p:nvPr/>
        </p:nvSpPr>
        <p:spPr>
          <a:xfrm>
            <a:off x="1957386" y="5571933"/>
            <a:ext cx="3862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Non mi interessa davvero risolvere questo… basta calcolare la R «vista»…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740558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magine 69">
            <a:extLst>
              <a:ext uri="{FF2B5EF4-FFF2-40B4-BE49-F238E27FC236}">
                <a16:creationId xmlns:a16="http://schemas.microsoft.com/office/drawing/2014/main" id="{DE327F7E-E4E3-F421-E43F-2EC8F8442EF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499A7FA-9731-E4DD-7B93-F9B1BED1E65A}"/>
              </a:ext>
            </a:extLst>
          </p:cNvPr>
          <p:cNvCxnSpPr>
            <a:cxnSpLocks/>
          </p:cNvCxnSpPr>
          <p:nvPr/>
        </p:nvCxnSpPr>
        <p:spPr>
          <a:xfrm flipV="1">
            <a:off x="6662928" y="2285902"/>
            <a:ext cx="0" cy="1153039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2B2B66D-B992-86C6-5618-FDBDCEB95DC7}"/>
                  </a:ext>
                </a:extLst>
              </p:cNvPr>
              <p:cNvSpPr txBox="1"/>
              <p:nvPr/>
            </p:nvSpPr>
            <p:spPr>
              <a:xfrm>
                <a:off x="495302" y="1286067"/>
                <a:ext cx="27783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2+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2B2B66D-B992-86C6-5618-FDBDCEB95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2" y="1286067"/>
                <a:ext cx="277835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DC04301-0422-B902-DB54-9A1D4542DE71}"/>
              </a:ext>
            </a:extLst>
          </p:cNvPr>
          <p:cNvSpPr/>
          <p:nvPr/>
        </p:nvSpPr>
        <p:spPr>
          <a:xfrm>
            <a:off x="1499234" y="1945191"/>
            <a:ext cx="916305" cy="325569"/>
          </a:xfrm>
          <a:prstGeom prst="round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D699DF9-EEC5-42F2-D526-C3EF2E5E28EB}"/>
              </a:ext>
            </a:extLst>
          </p:cNvPr>
          <p:cNvCxnSpPr>
            <a:cxnSpLocks/>
          </p:cNvCxnSpPr>
          <p:nvPr/>
        </p:nvCxnSpPr>
        <p:spPr>
          <a:xfrm flipH="1">
            <a:off x="1539040" y="1701527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e 4">
            <a:extLst>
              <a:ext uri="{FF2B5EF4-FFF2-40B4-BE49-F238E27FC236}">
                <a16:creationId xmlns:a16="http://schemas.microsoft.com/office/drawing/2014/main" id="{511124DF-4E6D-0CC9-A3DA-617223158418}"/>
              </a:ext>
            </a:extLst>
          </p:cNvPr>
          <p:cNvSpPr/>
          <p:nvPr/>
        </p:nvSpPr>
        <p:spPr>
          <a:xfrm>
            <a:off x="5686938" y="358779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596181B7-B7E4-DC6B-E351-AF713C15D466}"/>
              </a:ext>
            </a:extLst>
          </p:cNvPr>
          <p:cNvSpPr/>
          <p:nvPr/>
        </p:nvSpPr>
        <p:spPr>
          <a:xfrm>
            <a:off x="5702178" y="2079037"/>
            <a:ext cx="88925" cy="8892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53EB4EE6-451D-97BE-2E15-05AB458DCEA8}"/>
              </a:ext>
            </a:extLst>
          </p:cNvPr>
          <p:cNvSpPr/>
          <p:nvPr/>
        </p:nvSpPr>
        <p:spPr>
          <a:xfrm>
            <a:off x="799550" y="2294657"/>
            <a:ext cx="1273292" cy="9573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F50C2598-1268-4458-F4BA-F41A1DBBC74F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CCF9DC21-B07C-A006-97E1-ECF3AC89B76E}"/>
              </a:ext>
            </a:extLst>
          </p:cNvPr>
          <p:cNvSpPr/>
          <p:nvPr/>
        </p:nvSpPr>
        <p:spPr>
          <a:xfrm>
            <a:off x="4335417" y="1449984"/>
            <a:ext cx="1273292" cy="9573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D85E9BDB-BC5A-6FED-A514-E6AF76B0E6EA}"/>
              </a:ext>
            </a:extLst>
          </p:cNvPr>
          <p:cNvCxnSpPr/>
          <p:nvPr/>
        </p:nvCxnSpPr>
        <p:spPr>
          <a:xfrm>
            <a:off x="4347609" y="2118087"/>
            <a:ext cx="12455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57767F1B-940A-2741-4E2D-1C36646E51D3}"/>
              </a:ext>
            </a:extLst>
          </p:cNvPr>
          <p:cNvCxnSpPr>
            <a:cxnSpLocks/>
          </p:cNvCxnSpPr>
          <p:nvPr/>
        </p:nvCxnSpPr>
        <p:spPr>
          <a:xfrm flipV="1">
            <a:off x="6662928" y="2285902"/>
            <a:ext cx="0" cy="1153039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02204E3-4715-E4BF-BE23-E85565DEBF31}"/>
              </a:ext>
            </a:extLst>
          </p:cNvPr>
          <p:cNvCxnSpPr>
            <a:cxnSpLocks/>
          </p:cNvCxnSpPr>
          <p:nvPr/>
        </p:nvCxnSpPr>
        <p:spPr>
          <a:xfrm>
            <a:off x="5737497" y="3632260"/>
            <a:ext cx="925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01AA47E3-0388-086F-8429-9B46CD6CE3C0}"/>
              </a:ext>
            </a:extLst>
          </p:cNvPr>
          <p:cNvSpPr/>
          <p:nvPr/>
        </p:nvSpPr>
        <p:spPr>
          <a:xfrm>
            <a:off x="6612369" y="358922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F8B7E0A4-A774-D433-1C66-6DDBE30E5D8F}"/>
              </a:ext>
            </a:extLst>
          </p:cNvPr>
          <p:cNvCxnSpPr>
            <a:cxnSpLocks/>
          </p:cNvCxnSpPr>
          <p:nvPr/>
        </p:nvCxnSpPr>
        <p:spPr>
          <a:xfrm>
            <a:off x="5752737" y="2123500"/>
            <a:ext cx="925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e 36">
            <a:extLst>
              <a:ext uri="{FF2B5EF4-FFF2-40B4-BE49-F238E27FC236}">
                <a16:creationId xmlns:a16="http://schemas.microsoft.com/office/drawing/2014/main" id="{7DFE6C97-822D-2B56-0426-A18E3DFB0241}"/>
              </a:ext>
            </a:extLst>
          </p:cNvPr>
          <p:cNvSpPr/>
          <p:nvPr/>
        </p:nvSpPr>
        <p:spPr>
          <a:xfrm>
            <a:off x="6627609" y="2080463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Immagine 40">
            <a:extLst>
              <a:ext uri="{FF2B5EF4-FFF2-40B4-BE49-F238E27FC236}">
                <a16:creationId xmlns:a16="http://schemas.microsoft.com/office/drawing/2014/main" id="{EEB4B949-4BB1-1D90-2776-E79B9797D9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0071"/>
          <a:stretch/>
        </p:blipFill>
        <p:spPr>
          <a:xfrm>
            <a:off x="7629163" y="1600917"/>
            <a:ext cx="1660854" cy="2202889"/>
          </a:xfrm>
          <a:prstGeom prst="rect">
            <a:avLst/>
          </a:prstGeom>
        </p:spPr>
      </p:pic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0F062616-8437-AF1E-E665-7CA23E7B959D}"/>
              </a:ext>
            </a:extLst>
          </p:cNvPr>
          <p:cNvCxnSpPr>
            <a:cxnSpLocks/>
          </p:cNvCxnSpPr>
          <p:nvPr/>
        </p:nvCxnSpPr>
        <p:spPr>
          <a:xfrm>
            <a:off x="9116861" y="2102847"/>
            <a:ext cx="3852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e 42">
            <a:extLst>
              <a:ext uri="{FF2B5EF4-FFF2-40B4-BE49-F238E27FC236}">
                <a16:creationId xmlns:a16="http://schemas.microsoft.com/office/drawing/2014/main" id="{5582466D-7492-793F-9023-32A4A1BCCDFF}"/>
              </a:ext>
            </a:extLst>
          </p:cNvPr>
          <p:cNvSpPr/>
          <p:nvPr/>
        </p:nvSpPr>
        <p:spPr>
          <a:xfrm>
            <a:off x="9435434" y="2058384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C927725D-6AD8-9FF9-2155-25B50879DBB8}"/>
              </a:ext>
            </a:extLst>
          </p:cNvPr>
          <p:cNvSpPr/>
          <p:nvPr/>
        </p:nvSpPr>
        <p:spPr>
          <a:xfrm>
            <a:off x="8360291" y="2649240"/>
            <a:ext cx="1134229" cy="120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BC9259F4-92FA-F4B8-6310-2115C1A4F894}"/>
              </a:ext>
            </a:extLst>
          </p:cNvPr>
          <p:cNvCxnSpPr>
            <a:cxnSpLocks/>
          </p:cNvCxnSpPr>
          <p:nvPr/>
        </p:nvCxnSpPr>
        <p:spPr>
          <a:xfrm>
            <a:off x="8343900" y="3618551"/>
            <a:ext cx="11607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e 47">
            <a:extLst>
              <a:ext uri="{FF2B5EF4-FFF2-40B4-BE49-F238E27FC236}">
                <a16:creationId xmlns:a16="http://schemas.microsoft.com/office/drawing/2014/main" id="{33BB3A0E-D9A7-90BB-AA8F-E6335FFB1DFF}"/>
              </a:ext>
            </a:extLst>
          </p:cNvPr>
          <p:cNvSpPr/>
          <p:nvPr/>
        </p:nvSpPr>
        <p:spPr>
          <a:xfrm>
            <a:off x="9437949" y="3566468"/>
            <a:ext cx="88925" cy="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F204B937-2AB4-9A14-D267-D8E2DF568C3E}"/>
              </a:ext>
            </a:extLst>
          </p:cNvPr>
          <p:cNvCxnSpPr>
            <a:cxnSpLocks/>
          </p:cNvCxnSpPr>
          <p:nvPr/>
        </p:nvCxnSpPr>
        <p:spPr>
          <a:xfrm flipV="1">
            <a:off x="9482328" y="2270760"/>
            <a:ext cx="0" cy="1153039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tangolo 50">
            <a:extLst>
              <a:ext uri="{FF2B5EF4-FFF2-40B4-BE49-F238E27FC236}">
                <a16:creationId xmlns:a16="http://schemas.microsoft.com/office/drawing/2014/main" id="{B235FCCC-8598-8C6F-FC69-4BD50AB34E64}"/>
              </a:ext>
            </a:extLst>
          </p:cNvPr>
          <p:cNvSpPr/>
          <p:nvPr/>
        </p:nvSpPr>
        <p:spPr>
          <a:xfrm>
            <a:off x="8367911" y="1600917"/>
            <a:ext cx="1134229" cy="369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D3FD3704-5C54-0BEC-EA05-5AD378194D42}"/>
                  </a:ext>
                </a:extLst>
              </p:cNvPr>
              <p:cNvSpPr txBox="1"/>
              <p:nvPr/>
            </p:nvSpPr>
            <p:spPr>
              <a:xfrm>
                <a:off x="8422687" y="1644985"/>
                <a:ext cx="6941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𝑹</m:t>
                          </m:r>
                        </m:e>
                        <m:sub>
                          <m:r>
                            <a:rPr lang="it-IT" b="1" i="0" smtClean="0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𝐓𝐡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D3FD3704-5C54-0BEC-EA05-5AD378194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687" y="1644985"/>
                <a:ext cx="694174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598D9FAF-DBDE-F389-0E71-A04099B446CF}"/>
                  </a:ext>
                </a:extLst>
              </p:cNvPr>
              <p:cNvSpPr txBox="1"/>
              <p:nvPr/>
            </p:nvSpPr>
            <p:spPr>
              <a:xfrm>
                <a:off x="8217903" y="2691337"/>
                <a:ext cx="6941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𝑽</m:t>
                          </m:r>
                        </m:e>
                        <m:sub>
                          <m:r>
                            <a:rPr lang="it-IT" b="1" i="0" smtClean="0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𝐓𝐡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598D9FAF-DBDE-F389-0E71-A04099B4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903" y="2691337"/>
                <a:ext cx="694174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20A01298-805B-2F7C-A159-972F165A023A}"/>
                  </a:ext>
                </a:extLst>
              </p:cNvPr>
              <p:cNvSpPr txBox="1"/>
              <p:nvPr/>
            </p:nvSpPr>
            <p:spPr>
              <a:xfrm>
                <a:off x="7073041" y="2599004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b="1" i="1" smtClean="0"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600" b="1" dirty="0"/>
              </a:p>
            </p:txBody>
          </p:sp>
        </mc:Choice>
        <mc:Fallback xmlns=""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20A01298-805B-2F7C-A159-972F165A0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041" y="2599004"/>
                <a:ext cx="448841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4FC2DC37-266B-6674-DD9E-3F94EEAE8A32}"/>
              </a:ext>
            </a:extLst>
          </p:cNvPr>
          <p:cNvSpPr txBox="1"/>
          <p:nvPr/>
        </p:nvSpPr>
        <p:spPr>
          <a:xfrm>
            <a:off x="8291650" y="163911"/>
            <a:ext cx="3645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  <a:endParaRPr lang="en-GB" dirty="0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3439A2B8-E262-C837-2503-6F60986B3089}"/>
              </a:ext>
            </a:extLst>
          </p:cNvPr>
          <p:cNvSpPr/>
          <p:nvPr/>
        </p:nvSpPr>
        <p:spPr>
          <a:xfrm>
            <a:off x="2253614" y="2540000"/>
            <a:ext cx="1273292" cy="6720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A0FB4C34-D660-DCC7-4E65-FACA0194D14A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FA1E8B1A-20DA-AEA9-FA61-F6E2D0DF2C63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6CB5AF-C355-F7A2-6C7B-FF754A0C5772}"/>
              </a:ext>
            </a:extLst>
          </p:cNvPr>
          <p:cNvGrpSpPr/>
          <p:nvPr/>
        </p:nvGrpSpPr>
        <p:grpSpPr>
          <a:xfrm>
            <a:off x="6324021" y="3919122"/>
            <a:ext cx="4014502" cy="2680400"/>
            <a:chOff x="7347958" y="3652422"/>
            <a:chExt cx="4014502" cy="2680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CasellaDiTesto 64">
                  <a:extLst>
                    <a:ext uri="{FF2B5EF4-FFF2-40B4-BE49-F238E27FC236}">
                      <a16:creationId xmlns:a16="http://schemas.microsoft.com/office/drawing/2014/main" id="{595104C9-6F74-A1C5-5C77-B403ADA3753D}"/>
                    </a:ext>
                  </a:extLst>
                </p:cNvPr>
                <p:cNvSpPr txBox="1"/>
                <p:nvPr/>
              </p:nvSpPr>
              <p:spPr>
                <a:xfrm>
                  <a:off x="7347958" y="4238336"/>
                  <a:ext cx="66099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Th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5" name="CasellaDiTesto 64">
                  <a:extLst>
                    <a:ext uri="{FF2B5EF4-FFF2-40B4-BE49-F238E27FC236}">
                      <a16:creationId xmlns:a16="http://schemas.microsoft.com/office/drawing/2014/main" id="{595104C9-6F74-A1C5-5C77-B403ADA37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7958" y="4238336"/>
                  <a:ext cx="66099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asellaDiTesto 65">
                  <a:extLst>
                    <a:ext uri="{FF2B5EF4-FFF2-40B4-BE49-F238E27FC236}">
                      <a16:creationId xmlns:a16="http://schemas.microsoft.com/office/drawing/2014/main" id="{0FB0F821-5892-5092-3381-D237DDAE7C6E}"/>
                    </a:ext>
                  </a:extLst>
                </p:cNvPr>
                <p:cNvSpPr txBox="1"/>
                <p:nvPr/>
              </p:nvSpPr>
              <p:spPr>
                <a:xfrm>
                  <a:off x="8911469" y="5686491"/>
                  <a:ext cx="104792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Th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Th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  <a:p>
                  <a:endParaRPr lang="en-GB" dirty="0"/>
                </a:p>
              </p:txBody>
            </p:sp>
          </mc:Choice>
          <mc:Fallback xmlns="">
            <p:sp>
              <p:nvSpPr>
                <p:cNvPr id="66" name="CasellaDiTesto 65">
                  <a:extLst>
                    <a:ext uri="{FF2B5EF4-FFF2-40B4-BE49-F238E27FC236}">
                      <a16:creationId xmlns:a16="http://schemas.microsoft.com/office/drawing/2014/main" id="{0FB0F821-5892-5092-3381-D237DDAE7C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1469" y="5686491"/>
                  <a:ext cx="1047929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asellaDiTesto 75">
                  <a:extLst>
                    <a:ext uri="{FF2B5EF4-FFF2-40B4-BE49-F238E27FC236}">
                      <a16:creationId xmlns:a16="http://schemas.microsoft.com/office/drawing/2014/main" id="{E4B4BE27-DB4E-EC06-C879-6AD303C79B9A}"/>
                    </a:ext>
                  </a:extLst>
                </p:cNvPr>
                <p:cNvSpPr txBox="1"/>
                <p:nvPr/>
              </p:nvSpPr>
              <p:spPr>
                <a:xfrm rot="19658364">
                  <a:off x="8793663" y="4181644"/>
                  <a:ext cx="19373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RL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IOUT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6" name="CasellaDiTesto 75">
                  <a:extLst>
                    <a:ext uri="{FF2B5EF4-FFF2-40B4-BE49-F238E27FC236}">
                      <a16:creationId xmlns:a16="http://schemas.microsoft.com/office/drawing/2014/main" id="{E4B4BE27-DB4E-EC06-C879-6AD303C79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658364">
                  <a:off x="8793663" y="4181644"/>
                  <a:ext cx="193737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C58BDCE-798B-470C-289B-F2913611C0DF}"/>
                </a:ext>
              </a:extLst>
            </p:cNvPr>
            <p:cNvGrpSpPr/>
            <p:nvPr/>
          </p:nvGrpSpPr>
          <p:grpSpPr>
            <a:xfrm>
              <a:off x="7676851" y="3652422"/>
              <a:ext cx="3685609" cy="2343264"/>
              <a:chOff x="7676851" y="3652422"/>
              <a:chExt cx="3685609" cy="2343264"/>
            </a:xfrm>
          </p:grpSpPr>
          <p:cxnSp>
            <p:nvCxnSpPr>
              <p:cNvPr id="57" name="Connettore 2 56">
                <a:extLst>
                  <a:ext uri="{FF2B5EF4-FFF2-40B4-BE49-F238E27FC236}">
                    <a16:creationId xmlns:a16="http://schemas.microsoft.com/office/drawing/2014/main" id="{C8A180C7-E10C-D8EA-C560-E3C95E85E759}"/>
                  </a:ext>
                </a:extLst>
              </p:cNvPr>
              <p:cNvCxnSpPr/>
              <p:nvPr/>
            </p:nvCxnSpPr>
            <p:spPr>
              <a:xfrm flipV="1">
                <a:off x="7986409" y="3986829"/>
                <a:ext cx="0" cy="182366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ttore 2 57">
                <a:extLst>
                  <a:ext uri="{FF2B5EF4-FFF2-40B4-BE49-F238E27FC236}">
                    <a16:creationId xmlns:a16="http://schemas.microsoft.com/office/drawing/2014/main" id="{108D7386-9150-5E9B-27AE-B29535A3F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557" y="5699242"/>
                <a:ext cx="285902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ttore diritto 60">
                <a:extLst>
                  <a:ext uri="{FF2B5EF4-FFF2-40B4-BE49-F238E27FC236}">
                    <a16:creationId xmlns:a16="http://schemas.microsoft.com/office/drawing/2014/main" id="{D632556B-17DB-107D-6BFE-49C8CFE3B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5038" y="4263624"/>
                <a:ext cx="2372810" cy="1732062"/>
              </a:xfrm>
              <a:prstGeom prst="line">
                <a:avLst/>
              </a:prstGeom>
              <a:ln w="28575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CasellaDiTesto 62">
                    <a:extLst>
                      <a:ext uri="{FF2B5EF4-FFF2-40B4-BE49-F238E27FC236}">
                        <a16:creationId xmlns:a16="http://schemas.microsoft.com/office/drawing/2014/main" id="{9EFF1FC3-70CB-551D-7E5C-A6F319D064DA}"/>
                      </a:ext>
                    </a:extLst>
                  </p:cNvPr>
                  <p:cNvSpPr txBox="1"/>
                  <p:nvPr/>
                </p:nvSpPr>
                <p:spPr>
                  <a:xfrm>
                    <a:off x="7676851" y="3652422"/>
                    <a:ext cx="6384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63" name="CasellaDiTesto 62">
                    <a:extLst>
                      <a:ext uri="{FF2B5EF4-FFF2-40B4-BE49-F238E27FC236}">
                        <a16:creationId xmlns:a16="http://schemas.microsoft.com/office/drawing/2014/main" id="{9EFF1FC3-70CB-551D-7E5C-A6F319D064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6851" y="3652422"/>
                    <a:ext cx="63845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CasellaDiTesto 63">
                    <a:extLst>
                      <a:ext uri="{FF2B5EF4-FFF2-40B4-BE49-F238E27FC236}">
                        <a16:creationId xmlns:a16="http://schemas.microsoft.com/office/drawing/2014/main" id="{DB5AE6AB-8A2E-C82E-0E72-0D4A0CE2F27E}"/>
                      </a:ext>
                    </a:extLst>
                  </p:cNvPr>
                  <p:cNvSpPr txBox="1"/>
                  <p:nvPr/>
                </p:nvSpPr>
                <p:spPr>
                  <a:xfrm>
                    <a:off x="10534928" y="5262897"/>
                    <a:ext cx="82753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b="1" i="0" smtClean="0">
                              <a:solidFill>
                                <a:srgbClr val="008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𝐈𝐎𝐔𝐓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64" name="CasellaDiTesto 63">
                    <a:extLst>
                      <a:ext uri="{FF2B5EF4-FFF2-40B4-BE49-F238E27FC236}">
                        <a16:creationId xmlns:a16="http://schemas.microsoft.com/office/drawing/2014/main" id="{DB5AE6AB-8A2E-C82E-0E72-0D4A0CE2F2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34928" y="5262897"/>
                    <a:ext cx="82753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5" name="Connettore diritto 74">
                <a:extLst>
                  <a:ext uri="{FF2B5EF4-FFF2-40B4-BE49-F238E27FC236}">
                    <a16:creationId xmlns:a16="http://schemas.microsoft.com/office/drawing/2014/main" id="{E15A0E3C-E19F-8278-4497-784AD11CC3FA}"/>
                  </a:ext>
                </a:extLst>
              </p:cNvPr>
              <p:cNvCxnSpPr/>
              <p:nvPr/>
            </p:nvCxnSpPr>
            <p:spPr>
              <a:xfrm flipV="1">
                <a:off x="7762171" y="4111121"/>
                <a:ext cx="2669122" cy="172787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ttore diritto 76">
                <a:extLst>
                  <a:ext uri="{FF2B5EF4-FFF2-40B4-BE49-F238E27FC236}">
                    <a16:creationId xmlns:a16="http://schemas.microsoft.com/office/drawing/2014/main" id="{C8AE5606-5538-35DC-8324-FDDE6BC483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31016" y="4121071"/>
                <a:ext cx="525867" cy="17870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nettore diritto 79">
                <a:extLst>
                  <a:ext uri="{FF2B5EF4-FFF2-40B4-BE49-F238E27FC236}">
                    <a16:creationId xmlns:a16="http://schemas.microsoft.com/office/drawing/2014/main" id="{274C6898-9BCB-B494-9438-F296A54E44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82818" y="5456797"/>
                <a:ext cx="2482917" cy="26563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CasellaDiTesto 82">
                <a:extLst>
                  <a:ext uri="{FF2B5EF4-FFF2-40B4-BE49-F238E27FC236}">
                    <a16:creationId xmlns:a16="http://schemas.microsoft.com/office/drawing/2014/main" id="{EABB3CFE-B75C-792B-FB8D-E973F65B7667}"/>
                  </a:ext>
                </a:extLst>
              </p:cNvPr>
              <p:cNvSpPr txBox="1"/>
              <p:nvPr/>
            </p:nvSpPr>
            <p:spPr>
              <a:xfrm>
                <a:off x="9823382" y="5143241"/>
                <a:ext cx="707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bassa</a:t>
                </a:r>
                <a:endParaRPr lang="en-GB" dirty="0"/>
              </a:p>
            </p:txBody>
          </p:sp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C697994E-6B9F-F1D5-1221-B0CD76AEA5BB}"/>
                  </a:ext>
                </a:extLst>
              </p:cNvPr>
              <p:cNvSpPr txBox="1"/>
              <p:nvPr/>
            </p:nvSpPr>
            <p:spPr>
              <a:xfrm>
                <a:off x="8455931" y="3915533"/>
                <a:ext cx="5329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alta</a:t>
                </a:r>
                <a:endParaRPr lang="en-GB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45">
                <a:extLst>
                  <a:ext uri="{FF2B5EF4-FFF2-40B4-BE49-F238E27FC236}">
                    <a16:creationId xmlns:a16="http://schemas.microsoft.com/office/drawing/2014/main" id="{5D59ABE9-3DA1-5A4A-3E7F-C4899901BC4D}"/>
                  </a:ext>
                </a:extLst>
              </p:cNvPr>
              <p:cNvSpPr txBox="1"/>
              <p:nvPr/>
            </p:nvSpPr>
            <p:spPr>
              <a:xfrm>
                <a:off x="4760258" y="1653761"/>
                <a:ext cx="41632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𝐼𝑂𝑈𝑇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CasellaDiTesto 45">
                <a:extLst>
                  <a:ext uri="{FF2B5EF4-FFF2-40B4-BE49-F238E27FC236}">
                    <a16:creationId xmlns:a16="http://schemas.microsoft.com/office/drawing/2014/main" id="{5D59ABE9-3DA1-5A4A-3E7F-C4899901B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58" y="1653761"/>
                <a:ext cx="416320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45">
                <a:extLst>
                  <a:ext uri="{FF2B5EF4-FFF2-40B4-BE49-F238E27FC236}">
                    <a16:creationId xmlns:a16="http://schemas.microsoft.com/office/drawing/2014/main" id="{C456562B-E8F4-E54C-48E3-AAE97C9101BB}"/>
                  </a:ext>
                </a:extLst>
              </p:cNvPr>
              <p:cNvSpPr txBox="1"/>
              <p:nvPr/>
            </p:nvSpPr>
            <p:spPr>
              <a:xfrm>
                <a:off x="2935451" y="4896183"/>
                <a:ext cx="4163209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out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it-IT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Th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Th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𝑂𝑈𝑇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GB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out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𝑂𝑈𝑇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asellaDiTesto 45">
                <a:extLst>
                  <a:ext uri="{FF2B5EF4-FFF2-40B4-BE49-F238E27FC236}">
                    <a16:creationId xmlns:a16="http://schemas.microsoft.com/office/drawing/2014/main" id="{C456562B-E8F4-E54C-48E3-AAE97C910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451" y="4896183"/>
                <a:ext cx="4163209" cy="7101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079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2F1C1693-AEE7-2B33-DDFF-D085F13E950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37A43A27-31D7-2648-16EE-3436E2C9B0B2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A1F2D0C-6C41-39DB-5808-78AD1B8492C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1386740" y="4701879"/>
                <a:ext cx="4284250" cy="7716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40" y="4701879"/>
                <a:ext cx="4284250" cy="7716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96C9A31-9E81-C085-F8B4-AB5633B1ADE6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D630C253-ED6F-82C6-A363-A15FFDBF925E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13905E27-AA12-3216-9699-54458B534158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F923A59-ACEA-38FA-D85E-BCB1F3707A2D}"/>
              </a:ext>
            </a:extLst>
          </p:cNvPr>
          <p:cNvSpPr txBox="1"/>
          <p:nvPr/>
        </p:nvSpPr>
        <p:spPr>
          <a:xfrm>
            <a:off x="8291650" y="163911"/>
            <a:ext cx="36459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</a:p>
          <a:p>
            <a:pPr marL="342900" indent="-342900">
              <a:buAutoNum type="arabicPeriod"/>
            </a:pPr>
            <a:r>
              <a:rPr lang="it-IT" b="1" dirty="0">
                <a:sym typeface="Wingdings" panose="05000000000000000000" pitchFamily="2" charset="2"/>
              </a:rPr>
              <a:t>COMPONENTI NON-LINEARI</a:t>
            </a:r>
            <a:r>
              <a:rPr lang="it-IT" dirty="0">
                <a:sym typeface="Wingdings" panose="05000000000000000000" pitchFamily="2" charset="2"/>
              </a:rPr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1334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2F1C1693-AEE7-2B33-DDFF-D085F13E950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574" y="1611080"/>
            <a:ext cx="5549263" cy="2202889"/>
          </a:xfrm>
          <a:prstGeom prst="rect">
            <a:avLst/>
          </a:prstGeom>
        </p:spPr>
      </p:pic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37A43A27-31D7-2648-16EE-3436E2C9B0B2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2FE5892-E40A-E9CE-6F8E-5FA5687E4B86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31A7C58-13C4-68C6-9517-F745E17BB26C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A1F2D0C-6C41-39DB-5808-78AD1B8492C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/>
              <p:nvPr/>
            </p:nvSpPr>
            <p:spPr>
              <a:xfrm>
                <a:off x="989388" y="4701879"/>
                <a:ext cx="46816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C260244-ED4D-DAA9-E37E-4F95BD38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388" y="4701879"/>
                <a:ext cx="4681602" cy="830997"/>
              </a:xfrm>
              <a:prstGeom prst="rect">
                <a:avLst/>
              </a:prstGeom>
              <a:blipFill>
                <a:blip r:embed="rId3"/>
                <a:stretch>
                  <a:fillRect r="-1953" b="-14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9B24AEA-A8A6-0D66-5031-C12DAF8B9A5F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96C9A31-9E81-C085-F8B4-AB5633B1ADE6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D630C253-ED6F-82C6-A363-A15FFDBF925E}"/>
              </a:ext>
            </a:extLst>
          </p:cNvPr>
          <p:cNvCxnSpPr>
            <a:cxnSpLocks/>
          </p:cNvCxnSpPr>
          <p:nvPr/>
        </p:nvCxnSpPr>
        <p:spPr>
          <a:xfrm flipV="1">
            <a:off x="5580960" y="2613152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13905E27-AA12-3216-9699-54458B534158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EB862B0-1D5F-12E6-5EB6-EA0764705DA0}"/>
              </a:ext>
            </a:extLst>
          </p:cNvPr>
          <p:cNvSpPr txBox="1"/>
          <p:nvPr/>
        </p:nvSpPr>
        <p:spPr>
          <a:xfrm>
            <a:off x="8291650" y="163911"/>
            <a:ext cx="36459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</a:p>
          <a:p>
            <a:pPr marL="342900" indent="-342900">
              <a:buAutoNum type="arabicPeriod"/>
            </a:pPr>
            <a:r>
              <a:rPr lang="it-IT" b="1" dirty="0">
                <a:sym typeface="Wingdings" panose="05000000000000000000" pitchFamily="2" charset="2"/>
              </a:rPr>
              <a:t>COMPONENTI NON-LINEARI</a:t>
            </a:r>
            <a:r>
              <a:rPr lang="it-IT" dirty="0">
                <a:sym typeface="Wingdings" panose="05000000000000000000" pitchFamily="2" charset="2"/>
              </a:rPr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3369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magine 39">
            <a:extLst>
              <a:ext uri="{FF2B5EF4-FFF2-40B4-BE49-F238E27FC236}">
                <a16:creationId xmlns:a16="http://schemas.microsoft.com/office/drawing/2014/main" id="{B339772E-6FB2-07DF-1EAB-F88758C8AFC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9168" y="1716827"/>
            <a:ext cx="5583783" cy="2130765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F50C2598-1268-4458-F4BA-F41A1DBBC74F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4FC2DC37-266B-6674-DD9E-3F94EEAE8A32}"/>
              </a:ext>
            </a:extLst>
          </p:cNvPr>
          <p:cNvSpPr txBox="1"/>
          <p:nvPr/>
        </p:nvSpPr>
        <p:spPr>
          <a:xfrm>
            <a:off x="8291650" y="163911"/>
            <a:ext cx="36459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</a:p>
          <a:p>
            <a:pPr marL="342900" indent="-342900">
              <a:buAutoNum type="arabicPeriod"/>
            </a:pPr>
            <a:r>
              <a:rPr lang="it-IT" b="1" dirty="0">
                <a:sym typeface="Wingdings" panose="05000000000000000000" pitchFamily="2" charset="2"/>
              </a:rPr>
              <a:t>COMPONENTI NON-LINEARI</a:t>
            </a:r>
            <a:r>
              <a:rPr lang="it-IT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Kirchhoff  sistema equazioni</a:t>
            </a:r>
            <a:endParaRPr lang="en-GB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D7DCB35-C00A-8EAA-B0AB-F07EDB2E2FAA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9CB518E-2C7C-822D-7C1A-5E476EC78A88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8C94FB17-6761-42DB-0F89-93BED12BC27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B772F3C-DC54-56C6-FB0C-567A6E1C711B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EA0A9187-C056-D822-4C8E-AEA989E4C6A2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43F8734A-EE24-6D3D-AA84-3D64A1360F87}"/>
                  </a:ext>
                </a:extLst>
              </p:cNvPr>
              <p:cNvSpPr txBox="1"/>
              <p:nvPr/>
            </p:nvSpPr>
            <p:spPr>
              <a:xfrm>
                <a:off x="1040683" y="4701879"/>
                <a:ext cx="463030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43F8734A-EE24-6D3D-AA84-3D64A1360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683" y="4701879"/>
                <a:ext cx="4630307" cy="830997"/>
              </a:xfrm>
              <a:prstGeom prst="rect">
                <a:avLst/>
              </a:prstGeom>
              <a:blipFill>
                <a:blip r:embed="rId3"/>
                <a:stretch>
                  <a:fillRect r="-1845" b="-10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F3F6A80-ACCC-F565-6335-3B432B790D9E}"/>
              </a:ext>
            </a:extLst>
          </p:cNvPr>
          <p:cNvCxnSpPr>
            <a:cxnSpLocks/>
          </p:cNvCxnSpPr>
          <p:nvPr/>
        </p:nvCxnSpPr>
        <p:spPr>
          <a:xfrm flipV="1">
            <a:off x="5438845" y="2540000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rentesi graffa chiusa 1">
            <a:extLst>
              <a:ext uri="{FF2B5EF4-FFF2-40B4-BE49-F238E27FC236}">
                <a16:creationId xmlns:a16="http://schemas.microsoft.com/office/drawing/2014/main" id="{FAB415CE-0617-49ED-5CD8-4193762EAA78}"/>
              </a:ext>
            </a:extLst>
          </p:cNvPr>
          <p:cNvSpPr/>
          <p:nvPr/>
        </p:nvSpPr>
        <p:spPr>
          <a:xfrm rot="5400000">
            <a:off x="4020573" y="4739434"/>
            <a:ext cx="157971" cy="1859281"/>
          </a:xfrm>
          <a:prstGeom prst="rightBrace">
            <a:avLst>
              <a:gd name="adj1" fmla="val 30844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DF01DC-7DB0-38A7-A353-C360D4F1002C}"/>
                  </a:ext>
                </a:extLst>
              </p:cNvPr>
              <p:cNvSpPr txBox="1"/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VD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DF01DC-7DB0-38A7-A353-C360D4F10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2E2673BB-9B98-6006-0D96-0902BD7DAFCC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BD2303E3-9A07-87EB-E676-EDBFED166365}"/>
              </a:ext>
            </a:extLst>
          </p:cNvPr>
          <p:cNvSpPr/>
          <p:nvPr/>
        </p:nvSpPr>
        <p:spPr>
          <a:xfrm rot="5400000">
            <a:off x="6359846" y="2556422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7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magine 39">
            <a:extLst>
              <a:ext uri="{FF2B5EF4-FFF2-40B4-BE49-F238E27FC236}">
                <a16:creationId xmlns:a16="http://schemas.microsoft.com/office/drawing/2014/main" id="{B339772E-6FB2-07DF-1EAB-F88758C8AFC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9168" y="1716827"/>
            <a:ext cx="5583783" cy="2130765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F50C2598-1268-4458-F4BA-F41A1DBBC74F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4FC2DC37-266B-6674-DD9E-3F94EEAE8A32}"/>
              </a:ext>
            </a:extLst>
          </p:cNvPr>
          <p:cNvSpPr txBox="1"/>
          <p:nvPr/>
        </p:nvSpPr>
        <p:spPr>
          <a:xfrm>
            <a:off x="8291650" y="163911"/>
            <a:ext cx="36459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</a:p>
          <a:p>
            <a:pPr marL="342900" indent="-342900">
              <a:buAutoNum type="arabicPeriod"/>
            </a:pPr>
            <a:r>
              <a:rPr lang="it-IT" b="1" dirty="0">
                <a:sym typeface="Wingdings" panose="05000000000000000000" pitchFamily="2" charset="2"/>
              </a:rPr>
              <a:t>COMPONENTI NON-LINEARI</a:t>
            </a:r>
            <a:r>
              <a:rPr lang="it-IT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Kirchhoff  sistema equazioni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                  linearizzazione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D7DCB35-C00A-8EAA-B0AB-F07EDB2E2FAA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9CB518E-2C7C-822D-7C1A-5E476EC78A88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8C94FB17-6761-42DB-0F89-93BED12BC27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B772F3C-DC54-56C6-FB0C-567A6E1C711B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EA0A9187-C056-D822-4C8E-AEA989E4C6A2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43F8734A-EE24-6D3D-AA84-3D64A1360F87}"/>
                  </a:ext>
                </a:extLst>
              </p:cNvPr>
              <p:cNvSpPr txBox="1"/>
              <p:nvPr/>
            </p:nvSpPr>
            <p:spPr>
              <a:xfrm>
                <a:off x="1040683" y="4701879"/>
                <a:ext cx="463030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43F8734A-EE24-6D3D-AA84-3D64A1360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683" y="4701879"/>
                <a:ext cx="4630307" cy="830997"/>
              </a:xfrm>
              <a:prstGeom prst="rect">
                <a:avLst/>
              </a:prstGeom>
              <a:blipFill>
                <a:blip r:embed="rId3"/>
                <a:stretch>
                  <a:fillRect r="-1845" b="-10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F3F6A80-ACCC-F565-6335-3B432B790D9E}"/>
              </a:ext>
            </a:extLst>
          </p:cNvPr>
          <p:cNvCxnSpPr>
            <a:cxnSpLocks/>
          </p:cNvCxnSpPr>
          <p:nvPr/>
        </p:nvCxnSpPr>
        <p:spPr>
          <a:xfrm flipV="1">
            <a:off x="5438845" y="2540000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E1E4810A-AE65-022B-7FDB-79BD412DCDF8}"/>
                  </a:ext>
                </a:extLst>
              </p:cNvPr>
              <p:cNvSpPr txBox="1"/>
              <p:nvPr/>
            </p:nvSpPr>
            <p:spPr>
              <a:xfrm>
                <a:off x="5382735" y="995553"/>
                <a:ext cx="2035429" cy="295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1(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it-IT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d>
                            <m:dPr>
                              <m:ctrlPr>
                                <a:rPr lang="it-IT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1(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E1E4810A-AE65-022B-7FDB-79BD412DC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735" y="995553"/>
                <a:ext cx="2035429" cy="295594"/>
              </a:xfrm>
              <a:prstGeom prst="rect">
                <a:avLst/>
              </a:prstGeom>
              <a:blipFill>
                <a:blip r:embed="rId4"/>
                <a:stretch>
                  <a:fillRect l="-2395" r="-3892" b="-346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22CB83D0-2F4D-53BE-94B5-B14A3C00FA22}"/>
              </a:ext>
            </a:extLst>
          </p:cNvPr>
          <p:cNvCxnSpPr>
            <a:cxnSpLocks/>
          </p:cNvCxnSpPr>
          <p:nvPr/>
        </p:nvCxnSpPr>
        <p:spPr>
          <a:xfrm>
            <a:off x="5775863" y="565548"/>
            <a:ext cx="517088" cy="44840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E879BF27-D674-F538-DEAC-DCF873270FD9}"/>
              </a:ext>
            </a:extLst>
          </p:cNvPr>
          <p:cNvCxnSpPr>
            <a:cxnSpLocks/>
          </p:cNvCxnSpPr>
          <p:nvPr/>
        </p:nvCxnSpPr>
        <p:spPr>
          <a:xfrm flipH="1">
            <a:off x="6956151" y="607823"/>
            <a:ext cx="200759" cy="3877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A6C142CA-96E3-EF49-565D-DBAE5FBB7B3F}"/>
              </a:ext>
            </a:extLst>
          </p:cNvPr>
          <p:cNvSpPr txBox="1"/>
          <p:nvPr/>
        </p:nvSpPr>
        <p:spPr>
          <a:xfrm>
            <a:off x="4483165" y="220092"/>
            <a:ext cx="184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«punto di lavoro»</a:t>
            </a:r>
            <a:endParaRPr lang="en-GB" dirty="0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4E59A59A-7D82-3D29-A6D9-8F727B93CBC0}"/>
              </a:ext>
            </a:extLst>
          </p:cNvPr>
          <p:cNvSpPr txBox="1"/>
          <p:nvPr/>
        </p:nvSpPr>
        <p:spPr>
          <a:xfrm>
            <a:off x="6447872" y="238491"/>
            <a:ext cx="172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«piccoli segnali»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sellaDiTesto 68">
                <a:extLst>
                  <a:ext uri="{FF2B5EF4-FFF2-40B4-BE49-F238E27FC236}">
                    <a16:creationId xmlns:a16="http://schemas.microsoft.com/office/drawing/2014/main" id="{BD6600A6-23E7-7363-1B06-65895E4575DC}"/>
                  </a:ext>
                </a:extLst>
              </p:cNvPr>
              <p:cNvSpPr txBox="1"/>
              <p:nvPr/>
            </p:nvSpPr>
            <p:spPr>
              <a:xfrm>
                <a:off x="6069274" y="3466558"/>
                <a:ext cx="5635132" cy="889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  <m:brk m:alnAt="7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it-IT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it-IT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it-IT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9" name="CasellaDiTesto 68">
                <a:extLst>
                  <a:ext uri="{FF2B5EF4-FFF2-40B4-BE49-F238E27FC236}">
                    <a16:creationId xmlns:a16="http://schemas.microsoft.com/office/drawing/2014/main" id="{BD6600A6-23E7-7363-1B06-65895E45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274" y="3466558"/>
                <a:ext cx="5635132" cy="889603"/>
              </a:xfrm>
              <a:prstGeom prst="rect">
                <a:avLst/>
              </a:prstGeom>
              <a:blipFill>
                <a:blip r:embed="rId5"/>
                <a:stretch>
                  <a:fillRect t="-2740" r="-1407" b="-8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844B36E1-06A1-89B5-2437-679ADD14C44E}"/>
                  </a:ext>
                </a:extLst>
              </p:cNvPr>
              <p:cNvSpPr txBox="1"/>
              <p:nvPr/>
            </p:nvSpPr>
            <p:spPr>
              <a:xfrm>
                <a:off x="7081164" y="4637561"/>
                <a:ext cx="4583049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2−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2+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844B36E1-06A1-89B5-2437-679ADD14C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164" y="4637561"/>
                <a:ext cx="4583049" cy="830997"/>
              </a:xfrm>
              <a:prstGeom prst="rect">
                <a:avLst/>
              </a:prstGeom>
              <a:blipFill>
                <a:blip r:embed="rId6"/>
                <a:stretch>
                  <a:fillRect r="-1997" b="-4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E709A1D4-F474-BED6-ED27-A2DD618188F1}"/>
              </a:ext>
            </a:extLst>
          </p:cNvPr>
          <p:cNvCxnSpPr>
            <a:cxnSpLocks/>
          </p:cNvCxnSpPr>
          <p:nvPr/>
        </p:nvCxnSpPr>
        <p:spPr>
          <a:xfrm flipV="1">
            <a:off x="9790280" y="5532876"/>
            <a:ext cx="603400" cy="4859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rentesi graffa chiusa 8">
            <a:extLst>
              <a:ext uri="{FF2B5EF4-FFF2-40B4-BE49-F238E27FC236}">
                <a16:creationId xmlns:a16="http://schemas.microsoft.com/office/drawing/2014/main" id="{E2A3B4FB-CBFE-7947-EE40-530251E7AE07}"/>
              </a:ext>
            </a:extLst>
          </p:cNvPr>
          <p:cNvSpPr/>
          <p:nvPr/>
        </p:nvSpPr>
        <p:spPr>
          <a:xfrm rot="5400000">
            <a:off x="4020573" y="4739434"/>
            <a:ext cx="157971" cy="1859281"/>
          </a:xfrm>
          <a:prstGeom prst="rightBrace">
            <a:avLst>
              <a:gd name="adj1" fmla="val 30844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5608F9F3-FD26-5A81-7FF5-B3F1DA17AD35}"/>
                  </a:ext>
                </a:extLst>
              </p:cNvPr>
              <p:cNvSpPr txBox="1"/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VD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5608F9F3-FD26-5A81-7FF5-B3F1DA17A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BBE94EE-DECF-D7B0-D932-564E6C4FB41B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E3C4A2E9-58E9-6CE2-27B3-CFDC8AD1E5E4}"/>
                  </a:ext>
                </a:extLst>
              </p:cNvPr>
              <p:cNvSpPr txBox="1"/>
              <p:nvPr/>
            </p:nvSpPr>
            <p:spPr>
              <a:xfrm>
                <a:off x="7014905" y="5904482"/>
                <a:ext cx="2948232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dVD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GB" dirty="0"/>
                  <a:t>/</a:t>
                </a:r>
                <a:r>
                  <a:rPr lang="it-IT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E3C4A2E9-58E9-6CE2-27B3-CFDC8AD1E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905" y="5904482"/>
                <a:ext cx="2948232" cy="380810"/>
              </a:xfrm>
              <a:prstGeom prst="rect">
                <a:avLst/>
              </a:prstGeom>
              <a:blipFill>
                <a:blip r:embed="rId8"/>
                <a:stretch>
                  <a:fillRect t="-6452" b="-25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reccia in giù 28">
            <a:extLst>
              <a:ext uri="{FF2B5EF4-FFF2-40B4-BE49-F238E27FC236}">
                <a16:creationId xmlns:a16="http://schemas.microsoft.com/office/drawing/2014/main" id="{1139D448-1EFC-49BD-509D-E7B3A24EAE2E}"/>
              </a:ext>
            </a:extLst>
          </p:cNvPr>
          <p:cNvSpPr/>
          <p:nvPr/>
        </p:nvSpPr>
        <p:spPr>
          <a:xfrm rot="5400000">
            <a:off x="6359846" y="2556422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287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D0C57C49-E813-4308-23E8-6132D810415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5783" y="1565335"/>
            <a:ext cx="5517968" cy="2313173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F50C2598-1268-4458-F4BA-F41A1DBBC74F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4FC2DC37-266B-6674-DD9E-3F94EEAE8A32}"/>
              </a:ext>
            </a:extLst>
          </p:cNvPr>
          <p:cNvSpPr txBox="1"/>
          <p:nvPr/>
        </p:nvSpPr>
        <p:spPr>
          <a:xfrm>
            <a:off x="8291650" y="163911"/>
            <a:ext cx="364593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</a:p>
          <a:p>
            <a:pPr marL="342900" indent="-342900">
              <a:buAutoNum type="arabicPeriod"/>
            </a:pPr>
            <a:r>
              <a:rPr lang="it-IT" b="1" dirty="0">
                <a:sym typeface="Wingdings" panose="05000000000000000000" pitchFamily="2" charset="2"/>
              </a:rPr>
              <a:t>COMPONENTI NON-LINEARI</a:t>
            </a:r>
            <a:r>
              <a:rPr lang="it-IT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Kirchhoff  sistema equazioni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                  linearizzazione</a:t>
            </a:r>
          </a:p>
          <a:p>
            <a:pPr marL="342900" indent="-342900">
              <a:buAutoNum type="arabicPeriod"/>
            </a:pPr>
            <a:r>
              <a:rPr lang="it-IT" b="1" dirty="0">
                <a:sym typeface="Wingdings" panose="05000000000000000000" pitchFamily="2" charset="2"/>
              </a:rPr>
              <a:t>COMPONENTI REATTIVI?</a:t>
            </a:r>
            <a:endParaRPr lang="it-IT" dirty="0">
              <a:sym typeface="Wingdings" panose="05000000000000000000" pitchFamily="2" charset="2"/>
            </a:endParaRPr>
          </a:p>
          <a:p>
            <a:pPr lvl="1"/>
            <a:r>
              <a:rPr lang="it-IT" dirty="0">
                <a:sym typeface="Wingdings" panose="05000000000000000000" pitchFamily="2" charset="2"/>
              </a:rPr>
              <a:t> Kirchhoff  ODE</a:t>
            </a:r>
          </a:p>
          <a:p>
            <a:pPr lvl="1"/>
            <a:endParaRPr lang="it-IT" dirty="0">
              <a:sym typeface="Wingdings" panose="05000000000000000000" pitchFamily="2" charset="2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D7DCB35-C00A-8EAA-B0AB-F07EDB2E2FAA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9CB518E-2C7C-822D-7C1A-5E476EC78A88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8C94FB17-6761-42DB-0F89-93BED12BC27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B772F3C-DC54-56C6-FB0C-567A6E1C711B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EA0A9187-C056-D822-4C8E-AEA989E4C6A2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43F8734A-EE24-6D3D-AA84-3D64A1360F87}"/>
                  </a:ext>
                </a:extLst>
              </p:cNvPr>
              <p:cNvSpPr txBox="1"/>
              <p:nvPr/>
            </p:nvSpPr>
            <p:spPr>
              <a:xfrm>
                <a:off x="430773" y="4701879"/>
                <a:ext cx="524021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dt</m:t>
                    </m:r>
                    <m:r>
                      <a:rPr lang="it-IT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43F8734A-EE24-6D3D-AA84-3D64A1360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73" y="4701879"/>
                <a:ext cx="5240217" cy="830997"/>
              </a:xfrm>
              <a:prstGeom prst="rect">
                <a:avLst/>
              </a:prstGeom>
              <a:blipFill>
                <a:blip r:embed="rId3"/>
                <a:stretch>
                  <a:fillRect l="-698" r="-1630" b="-10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F3F6A80-ACCC-F565-6335-3B432B790D9E}"/>
              </a:ext>
            </a:extLst>
          </p:cNvPr>
          <p:cNvCxnSpPr>
            <a:cxnSpLocks/>
          </p:cNvCxnSpPr>
          <p:nvPr/>
        </p:nvCxnSpPr>
        <p:spPr>
          <a:xfrm flipV="1">
            <a:off x="5438845" y="2540000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sellaDiTesto 68">
                <a:extLst>
                  <a:ext uri="{FF2B5EF4-FFF2-40B4-BE49-F238E27FC236}">
                    <a16:creationId xmlns:a16="http://schemas.microsoft.com/office/drawing/2014/main" id="{BD6600A6-23E7-7363-1B06-65895E4575DC}"/>
                  </a:ext>
                </a:extLst>
              </p:cNvPr>
              <p:cNvSpPr txBox="1"/>
              <p:nvPr/>
            </p:nvSpPr>
            <p:spPr>
              <a:xfrm>
                <a:off x="6069274" y="3466558"/>
                <a:ext cx="5635132" cy="889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  <m:brk m:alnAt="7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it-IT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it-IT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it-IT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9" name="CasellaDiTesto 68">
                <a:extLst>
                  <a:ext uri="{FF2B5EF4-FFF2-40B4-BE49-F238E27FC236}">
                    <a16:creationId xmlns:a16="http://schemas.microsoft.com/office/drawing/2014/main" id="{BD6600A6-23E7-7363-1B06-65895E45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274" y="3466558"/>
                <a:ext cx="5635132" cy="889603"/>
              </a:xfrm>
              <a:prstGeom prst="rect">
                <a:avLst/>
              </a:prstGeom>
              <a:blipFill>
                <a:blip r:embed="rId4"/>
                <a:stretch>
                  <a:fillRect t="-2740" r="-1407" b="-8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844B36E1-06A1-89B5-2437-679ADD14C44E}"/>
                  </a:ext>
                </a:extLst>
              </p:cNvPr>
              <p:cNvSpPr txBox="1"/>
              <p:nvPr/>
            </p:nvSpPr>
            <p:spPr>
              <a:xfrm>
                <a:off x="6481256" y="4637561"/>
                <a:ext cx="5182509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2−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1/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dt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2+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844B36E1-06A1-89B5-2437-679ADD14C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256" y="4637561"/>
                <a:ext cx="5182509" cy="830997"/>
              </a:xfrm>
              <a:prstGeom prst="rect">
                <a:avLst/>
              </a:prstGeom>
              <a:blipFill>
                <a:blip r:embed="rId5"/>
                <a:stretch>
                  <a:fillRect l="-353" r="-1765" b="-4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FAAE55F6-EEC5-A5E3-CD7E-4C8952F9F8FE}"/>
                  </a:ext>
                </a:extLst>
              </p:cNvPr>
              <p:cNvSpPr txBox="1"/>
              <p:nvPr/>
            </p:nvSpPr>
            <p:spPr>
              <a:xfrm>
                <a:off x="7014905" y="5904482"/>
                <a:ext cx="2948232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dVD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GB" dirty="0"/>
                  <a:t>/</a:t>
                </a:r>
                <a:r>
                  <a:rPr lang="it-IT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FAAE55F6-EEC5-A5E3-CD7E-4C8952F9F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905" y="5904482"/>
                <a:ext cx="2948232" cy="380810"/>
              </a:xfrm>
              <a:prstGeom prst="rect">
                <a:avLst/>
              </a:prstGeom>
              <a:blipFill>
                <a:blip r:embed="rId6"/>
                <a:stretch>
                  <a:fillRect t="-6452" b="-25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E709A1D4-F474-BED6-ED27-A2DD618188F1}"/>
              </a:ext>
            </a:extLst>
          </p:cNvPr>
          <p:cNvCxnSpPr>
            <a:cxnSpLocks/>
          </p:cNvCxnSpPr>
          <p:nvPr/>
        </p:nvCxnSpPr>
        <p:spPr>
          <a:xfrm flipV="1">
            <a:off x="9790280" y="5532876"/>
            <a:ext cx="603400" cy="4859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BBE94EE-DECF-D7B0-D932-564E6C4FB41B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roce 20">
            <a:extLst>
              <a:ext uri="{FF2B5EF4-FFF2-40B4-BE49-F238E27FC236}">
                <a16:creationId xmlns:a16="http://schemas.microsoft.com/office/drawing/2014/main" id="{861C0D43-499D-302B-11BF-59A03AB944FB}"/>
              </a:ext>
            </a:extLst>
          </p:cNvPr>
          <p:cNvSpPr/>
          <p:nvPr/>
        </p:nvSpPr>
        <p:spPr>
          <a:xfrm rot="2671739">
            <a:off x="6210210" y="3765686"/>
            <a:ext cx="318285" cy="318285"/>
          </a:xfrm>
          <a:prstGeom prst="plus">
            <a:avLst>
              <a:gd name="adj" fmla="val 46547"/>
            </a:avLst>
          </a:prstGeom>
          <a:solidFill>
            <a:srgbClr val="FF0000">
              <a:alpha val="46000"/>
            </a:srgbClr>
          </a:solidFill>
          <a:ln>
            <a:solidFill>
              <a:srgbClr val="C00000">
                <a:alpha val="4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3538860-5D3F-C059-A687-740EA28A21C2}"/>
              </a:ext>
            </a:extLst>
          </p:cNvPr>
          <p:cNvCxnSpPr>
            <a:cxnSpLocks/>
          </p:cNvCxnSpPr>
          <p:nvPr/>
        </p:nvCxnSpPr>
        <p:spPr>
          <a:xfrm flipH="1" flipV="1">
            <a:off x="4751182" y="5714352"/>
            <a:ext cx="633176" cy="2567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C9713AC-2972-0F4D-DB78-0002C97ED36A}"/>
              </a:ext>
            </a:extLst>
          </p:cNvPr>
          <p:cNvSpPr txBox="1"/>
          <p:nvPr/>
        </p:nvSpPr>
        <p:spPr>
          <a:xfrm>
            <a:off x="5348798" y="5509466"/>
            <a:ext cx="1458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dinamica più complicata </a:t>
            </a:r>
          </a:p>
          <a:p>
            <a:r>
              <a:rPr lang="it-IT" i="1" dirty="0"/>
              <a:t>in realtà…</a:t>
            </a:r>
            <a:endParaRPr lang="en-GB" i="1" dirty="0"/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6E8AF96B-1A7C-34AE-FA10-F4CB81360949}"/>
              </a:ext>
            </a:extLst>
          </p:cNvPr>
          <p:cNvCxnSpPr>
            <a:cxnSpLocks/>
          </p:cNvCxnSpPr>
          <p:nvPr/>
        </p:nvCxnSpPr>
        <p:spPr>
          <a:xfrm>
            <a:off x="6489700" y="5991860"/>
            <a:ext cx="584200" cy="1374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CAA36CE7-C8CD-192F-8571-392604DDEAD4}"/>
              </a:ext>
            </a:extLst>
          </p:cNvPr>
          <p:cNvCxnSpPr>
            <a:cxnSpLocks/>
          </p:cNvCxnSpPr>
          <p:nvPr/>
        </p:nvCxnSpPr>
        <p:spPr>
          <a:xfrm>
            <a:off x="5775863" y="565548"/>
            <a:ext cx="517088" cy="44840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E9460086-A3E9-48D0-9C8C-6A64C92A42DE}"/>
              </a:ext>
            </a:extLst>
          </p:cNvPr>
          <p:cNvCxnSpPr>
            <a:cxnSpLocks/>
          </p:cNvCxnSpPr>
          <p:nvPr/>
        </p:nvCxnSpPr>
        <p:spPr>
          <a:xfrm flipH="1">
            <a:off x="6956151" y="607823"/>
            <a:ext cx="200759" cy="3877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69902D4-C27E-B2EF-919E-741549B07F53}"/>
              </a:ext>
            </a:extLst>
          </p:cNvPr>
          <p:cNvSpPr txBox="1"/>
          <p:nvPr/>
        </p:nvSpPr>
        <p:spPr>
          <a:xfrm>
            <a:off x="4483165" y="220092"/>
            <a:ext cx="184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«punto di lavoro»</a:t>
            </a:r>
            <a:endParaRPr lang="en-GB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19FC5A0A-C951-EB2A-9AD8-60B91957A184}"/>
              </a:ext>
            </a:extLst>
          </p:cNvPr>
          <p:cNvSpPr txBox="1"/>
          <p:nvPr/>
        </p:nvSpPr>
        <p:spPr>
          <a:xfrm>
            <a:off x="6447872" y="238491"/>
            <a:ext cx="172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«piccoli segnali»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sellaDiTesto 46">
                <a:extLst>
                  <a:ext uri="{FF2B5EF4-FFF2-40B4-BE49-F238E27FC236}">
                    <a16:creationId xmlns:a16="http://schemas.microsoft.com/office/drawing/2014/main" id="{69B369B5-A865-7F03-F72F-66B80B8137B4}"/>
                  </a:ext>
                </a:extLst>
              </p:cNvPr>
              <p:cNvSpPr txBox="1"/>
              <p:nvPr/>
            </p:nvSpPr>
            <p:spPr>
              <a:xfrm>
                <a:off x="5382735" y="995553"/>
                <a:ext cx="2035429" cy="295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1(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it-IT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d>
                            <m:dPr>
                              <m:ctrlPr>
                                <a:rPr lang="it-IT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1(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CasellaDiTesto 46">
                <a:extLst>
                  <a:ext uri="{FF2B5EF4-FFF2-40B4-BE49-F238E27FC236}">
                    <a16:creationId xmlns:a16="http://schemas.microsoft.com/office/drawing/2014/main" id="{69B369B5-A865-7F03-F72F-66B80B813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735" y="995553"/>
                <a:ext cx="2035429" cy="295594"/>
              </a:xfrm>
              <a:prstGeom prst="rect">
                <a:avLst/>
              </a:prstGeom>
              <a:blipFill>
                <a:blip r:embed="rId7"/>
                <a:stretch>
                  <a:fillRect l="-2395" r="-3892" b="-346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ccia in giù 47">
            <a:extLst>
              <a:ext uri="{FF2B5EF4-FFF2-40B4-BE49-F238E27FC236}">
                <a16:creationId xmlns:a16="http://schemas.microsoft.com/office/drawing/2014/main" id="{5F881329-2760-6B72-808A-A8F7272FE6E6}"/>
              </a:ext>
            </a:extLst>
          </p:cNvPr>
          <p:cNvSpPr/>
          <p:nvPr/>
        </p:nvSpPr>
        <p:spPr>
          <a:xfrm>
            <a:off x="1694628" y="913665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Parentesi graffa chiusa 50">
            <a:extLst>
              <a:ext uri="{FF2B5EF4-FFF2-40B4-BE49-F238E27FC236}">
                <a16:creationId xmlns:a16="http://schemas.microsoft.com/office/drawing/2014/main" id="{54F7E96C-F63B-E261-3AD3-24E6005CF58D}"/>
              </a:ext>
            </a:extLst>
          </p:cNvPr>
          <p:cNvSpPr/>
          <p:nvPr/>
        </p:nvSpPr>
        <p:spPr>
          <a:xfrm rot="5400000">
            <a:off x="4020573" y="4739434"/>
            <a:ext cx="157971" cy="1859281"/>
          </a:xfrm>
          <a:prstGeom prst="rightBrace">
            <a:avLst>
              <a:gd name="adj1" fmla="val 30844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sellaDiTesto 51">
                <a:extLst>
                  <a:ext uri="{FF2B5EF4-FFF2-40B4-BE49-F238E27FC236}">
                    <a16:creationId xmlns:a16="http://schemas.microsoft.com/office/drawing/2014/main" id="{B33584A2-58F1-34E3-AB53-8C356A50B961}"/>
                  </a:ext>
                </a:extLst>
              </p:cNvPr>
              <p:cNvSpPr txBox="1"/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VD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CasellaDiTesto 51">
                <a:extLst>
                  <a:ext uri="{FF2B5EF4-FFF2-40B4-BE49-F238E27FC236}">
                    <a16:creationId xmlns:a16="http://schemas.microsoft.com/office/drawing/2014/main" id="{B33584A2-58F1-34E3-AB53-8C356A50B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679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D0C57C49-E813-4308-23E8-6132D810415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5783" y="1565335"/>
            <a:ext cx="5517968" cy="2313173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F50C2598-1268-4458-F4BA-F41A1DBBC74F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4FC2DC37-266B-6674-DD9E-3F94EEAE8A32}"/>
              </a:ext>
            </a:extLst>
          </p:cNvPr>
          <p:cNvSpPr txBox="1"/>
          <p:nvPr/>
        </p:nvSpPr>
        <p:spPr>
          <a:xfrm>
            <a:off x="8291650" y="163911"/>
            <a:ext cx="364593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</a:p>
          <a:p>
            <a:pPr marL="342900" indent="-342900">
              <a:buAutoNum type="arabicPeriod"/>
            </a:pPr>
            <a:r>
              <a:rPr lang="it-IT" b="1" dirty="0">
                <a:sym typeface="Wingdings" panose="05000000000000000000" pitchFamily="2" charset="2"/>
              </a:rPr>
              <a:t>COMPONENTI NON-LINEARI</a:t>
            </a:r>
            <a:r>
              <a:rPr lang="it-IT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Kirchhoff  sistema equazioni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                  linearizzazione</a:t>
            </a:r>
          </a:p>
          <a:p>
            <a:r>
              <a:rPr lang="it-IT" b="1" dirty="0">
                <a:sym typeface="Wingdings" panose="05000000000000000000" pitchFamily="2" charset="2"/>
              </a:rPr>
              <a:t>5.    COMPONENTI REATTIVI?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Kirchhoff  ODE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endParaRPr lang="it-IT" dirty="0">
              <a:sym typeface="Wingdings" panose="05000000000000000000" pitchFamily="2" charset="2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D7DCB35-C00A-8EAA-B0AB-F07EDB2E2FAA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9CB518E-2C7C-822D-7C1A-5E476EC78A88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8C94FB17-6761-42DB-0F89-93BED12BC27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B772F3C-DC54-56C6-FB0C-567A6E1C711B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EA0A9187-C056-D822-4C8E-AEA989E4C6A2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F3F6A80-ACCC-F565-6335-3B432B790D9E}"/>
              </a:ext>
            </a:extLst>
          </p:cNvPr>
          <p:cNvCxnSpPr>
            <a:cxnSpLocks/>
          </p:cNvCxnSpPr>
          <p:nvPr/>
        </p:nvCxnSpPr>
        <p:spPr>
          <a:xfrm flipV="1">
            <a:off x="5438845" y="2540000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sellaDiTesto 68">
                <a:extLst>
                  <a:ext uri="{FF2B5EF4-FFF2-40B4-BE49-F238E27FC236}">
                    <a16:creationId xmlns:a16="http://schemas.microsoft.com/office/drawing/2014/main" id="{BD6600A6-23E7-7363-1B06-65895E4575DC}"/>
                  </a:ext>
                </a:extLst>
              </p:cNvPr>
              <p:cNvSpPr txBox="1"/>
              <p:nvPr/>
            </p:nvSpPr>
            <p:spPr>
              <a:xfrm>
                <a:off x="6069274" y="3466558"/>
                <a:ext cx="5635132" cy="889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  <m:brk m:alnAt="7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it-IT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it-IT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it-IT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9" name="CasellaDiTesto 68">
                <a:extLst>
                  <a:ext uri="{FF2B5EF4-FFF2-40B4-BE49-F238E27FC236}">
                    <a16:creationId xmlns:a16="http://schemas.microsoft.com/office/drawing/2014/main" id="{BD6600A6-23E7-7363-1B06-65895E45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274" y="3466558"/>
                <a:ext cx="5635132" cy="889603"/>
              </a:xfrm>
              <a:prstGeom prst="rect">
                <a:avLst/>
              </a:prstGeom>
              <a:blipFill>
                <a:blip r:embed="rId3"/>
                <a:stretch>
                  <a:fillRect t="-2740" r="-1407" b="-8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844B36E1-06A1-89B5-2437-679ADD14C44E}"/>
                  </a:ext>
                </a:extLst>
              </p:cNvPr>
              <p:cNvSpPr txBox="1"/>
              <p:nvPr/>
            </p:nvSpPr>
            <p:spPr>
              <a:xfrm>
                <a:off x="6842701" y="4637561"/>
                <a:ext cx="4821064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2−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  <m:r>
                          <a:rPr lang="it-IT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2+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844B36E1-06A1-89B5-2437-679ADD14C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701" y="4637561"/>
                <a:ext cx="4821064" cy="830997"/>
              </a:xfrm>
              <a:prstGeom prst="rect">
                <a:avLst/>
              </a:prstGeom>
              <a:blipFill>
                <a:blip r:embed="rId4"/>
                <a:stretch>
                  <a:fillRect r="-1896" b="-4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FAAE55F6-EEC5-A5E3-CD7E-4C8952F9F8FE}"/>
                  </a:ext>
                </a:extLst>
              </p:cNvPr>
              <p:cNvSpPr txBox="1"/>
              <p:nvPr/>
            </p:nvSpPr>
            <p:spPr>
              <a:xfrm>
                <a:off x="7014905" y="5904482"/>
                <a:ext cx="2948232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dVD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GB" dirty="0"/>
                  <a:t>/</a:t>
                </a:r>
                <a:r>
                  <a:rPr lang="it-IT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FAAE55F6-EEC5-A5E3-CD7E-4C8952F9F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905" y="5904482"/>
                <a:ext cx="2948232" cy="380810"/>
              </a:xfrm>
              <a:prstGeom prst="rect">
                <a:avLst/>
              </a:prstGeom>
              <a:blipFill>
                <a:blip r:embed="rId5"/>
                <a:stretch>
                  <a:fillRect t="-6452" b="-25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E709A1D4-F474-BED6-ED27-A2DD618188F1}"/>
              </a:ext>
            </a:extLst>
          </p:cNvPr>
          <p:cNvCxnSpPr>
            <a:cxnSpLocks/>
          </p:cNvCxnSpPr>
          <p:nvPr/>
        </p:nvCxnSpPr>
        <p:spPr>
          <a:xfrm flipV="1">
            <a:off x="9790280" y="5532876"/>
            <a:ext cx="603400" cy="4859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BBE94EE-DECF-D7B0-D932-564E6C4FB41B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B9E7959-8792-B7A5-A861-0E4DF7F2B56D}"/>
                  </a:ext>
                </a:extLst>
              </p:cNvPr>
              <p:cNvSpPr txBox="1"/>
              <p:nvPr/>
            </p:nvSpPr>
            <p:spPr>
              <a:xfrm>
                <a:off x="430773" y="4701879"/>
                <a:ext cx="524021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dt</m:t>
                    </m:r>
                    <m:r>
                      <a:rPr lang="it-IT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B9E7959-8792-B7A5-A861-0E4DF7F2B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73" y="4701879"/>
                <a:ext cx="5240217" cy="830997"/>
              </a:xfrm>
              <a:prstGeom prst="rect">
                <a:avLst/>
              </a:prstGeom>
              <a:blipFill>
                <a:blip r:embed="rId6"/>
                <a:stretch>
                  <a:fillRect l="-698" r="-1630" b="-10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4AEC5055-00C3-A3C2-C96C-D7B512C42AB3}"/>
              </a:ext>
            </a:extLst>
          </p:cNvPr>
          <p:cNvCxnSpPr>
            <a:cxnSpLocks/>
          </p:cNvCxnSpPr>
          <p:nvPr/>
        </p:nvCxnSpPr>
        <p:spPr>
          <a:xfrm flipH="1" flipV="1">
            <a:off x="4751182" y="5714352"/>
            <a:ext cx="633176" cy="2567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A665FF8-CA5D-E2D4-83ED-672C8247B406}"/>
              </a:ext>
            </a:extLst>
          </p:cNvPr>
          <p:cNvCxnSpPr>
            <a:cxnSpLocks/>
          </p:cNvCxnSpPr>
          <p:nvPr/>
        </p:nvCxnSpPr>
        <p:spPr>
          <a:xfrm>
            <a:off x="6489700" y="5991860"/>
            <a:ext cx="584200" cy="1374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6EAA8D77-60C6-6096-8FCC-604AE83E7618}"/>
              </a:ext>
            </a:extLst>
          </p:cNvPr>
          <p:cNvCxnSpPr>
            <a:cxnSpLocks/>
          </p:cNvCxnSpPr>
          <p:nvPr/>
        </p:nvCxnSpPr>
        <p:spPr>
          <a:xfrm>
            <a:off x="5775863" y="565548"/>
            <a:ext cx="517088" cy="44840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9646F935-C1C4-B2D0-2BA8-C71C8E48C8FC}"/>
              </a:ext>
            </a:extLst>
          </p:cNvPr>
          <p:cNvCxnSpPr>
            <a:cxnSpLocks/>
          </p:cNvCxnSpPr>
          <p:nvPr/>
        </p:nvCxnSpPr>
        <p:spPr>
          <a:xfrm flipH="1">
            <a:off x="6956151" y="607823"/>
            <a:ext cx="200759" cy="3877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D27EFCB-33FB-7E9B-6478-195AD7559CEC}"/>
              </a:ext>
            </a:extLst>
          </p:cNvPr>
          <p:cNvSpPr txBox="1"/>
          <p:nvPr/>
        </p:nvSpPr>
        <p:spPr>
          <a:xfrm>
            <a:off x="4483165" y="220092"/>
            <a:ext cx="184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«punto di lavoro»</a:t>
            </a:r>
            <a:endParaRPr lang="en-GB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E9AAC26-F653-22A0-6D08-99764CC74E6A}"/>
              </a:ext>
            </a:extLst>
          </p:cNvPr>
          <p:cNvSpPr txBox="1"/>
          <p:nvPr/>
        </p:nvSpPr>
        <p:spPr>
          <a:xfrm>
            <a:off x="6447872" y="238491"/>
            <a:ext cx="172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«piccoli segnali»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DA2B50E3-714F-9B3D-7CFF-B060339175B7}"/>
                  </a:ext>
                </a:extLst>
              </p:cNvPr>
              <p:cNvSpPr txBox="1"/>
              <p:nvPr/>
            </p:nvSpPr>
            <p:spPr>
              <a:xfrm>
                <a:off x="5386002" y="995553"/>
                <a:ext cx="2172839" cy="295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1(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it-IT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d>
                            <m:dPr>
                              <m:ctrlPr>
                                <a:rPr lang="it-IT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DA2B50E3-714F-9B3D-7CFF-B06033917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002" y="995553"/>
                <a:ext cx="2172839" cy="295594"/>
              </a:xfrm>
              <a:prstGeom prst="rect">
                <a:avLst/>
              </a:prstGeom>
              <a:blipFill>
                <a:blip r:embed="rId7"/>
                <a:stretch>
                  <a:fillRect l="-2247" r="-562" b="-346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roce 46">
            <a:extLst>
              <a:ext uri="{FF2B5EF4-FFF2-40B4-BE49-F238E27FC236}">
                <a16:creationId xmlns:a16="http://schemas.microsoft.com/office/drawing/2014/main" id="{AFFD871F-C037-4DE8-E9C6-6B65A77C09D1}"/>
              </a:ext>
            </a:extLst>
          </p:cNvPr>
          <p:cNvSpPr/>
          <p:nvPr/>
        </p:nvSpPr>
        <p:spPr>
          <a:xfrm rot="2671739">
            <a:off x="6210210" y="3765686"/>
            <a:ext cx="318285" cy="318285"/>
          </a:xfrm>
          <a:prstGeom prst="plus">
            <a:avLst>
              <a:gd name="adj" fmla="val 46547"/>
            </a:avLst>
          </a:prstGeom>
          <a:solidFill>
            <a:srgbClr val="FF0000">
              <a:alpha val="46000"/>
            </a:srgbClr>
          </a:solidFill>
          <a:ln>
            <a:solidFill>
              <a:srgbClr val="C00000">
                <a:alpha val="4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ccia in giù 47">
            <a:extLst>
              <a:ext uri="{FF2B5EF4-FFF2-40B4-BE49-F238E27FC236}">
                <a16:creationId xmlns:a16="http://schemas.microsoft.com/office/drawing/2014/main" id="{0AD95C71-8161-677C-6899-A40CABEF941C}"/>
              </a:ext>
            </a:extLst>
          </p:cNvPr>
          <p:cNvSpPr/>
          <p:nvPr/>
        </p:nvSpPr>
        <p:spPr>
          <a:xfrm>
            <a:off x="1694628" y="913665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Parentesi graffa chiusa 48">
            <a:extLst>
              <a:ext uri="{FF2B5EF4-FFF2-40B4-BE49-F238E27FC236}">
                <a16:creationId xmlns:a16="http://schemas.microsoft.com/office/drawing/2014/main" id="{A6611287-D9B4-ACC7-A10D-819B08D6056B}"/>
              </a:ext>
            </a:extLst>
          </p:cNvPr>
          <p:cNvSpPr/>
          <p:nvPr/>
        </p:nvSpPr>
        <p:spPr>
          <a:xfrm rot="5400000">
            <a:off x="4020573" y="4739434"/>
            <a:ext cx="157971" cy="1859281"/>
          </a:xfrm>
          <a:prstGeom prst="rightBrace">
            <a:avLst>
              <a:gd name="adj1" fmla="val 30844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sellaDiTesto 49">
                <a:extLst>
                  <a:ext uri="{FF2B5EF4-FFF2-40B4-BE49-F238E27FC236}">
                    <a16:creationId xmlns:a16="http://schemas.microsoft.com/office/drawing/2014/main" id="{AF78A57F-AB18-D049-BC4D-92352DD9E095}"/>
                  </a:ext>
                </a:extLst>
              </p:cNvPr>
              <p:cNvSpPr txBox="1"/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VD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CasellaDiTesto 49">
                <a:extLst>
                  <a:ext uri="{FF2B5EF4-FFF2-40B4-BE49-F238E27FC236}">
                    <a16:creationId xmlns:a16="http://schemas.microsoft.com/office/drawing/2014/main" id="{AF78A57F-AB18-D049-BC4D-92352DD9E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E7D21586-C276-69E3-C9B0-21E725A84C05}"/>
              </a:ext>
            </a:extLst>
          </p:cNvPr>
          <p:cNvSpPr txBox="1"/>
          <p:nvPr/>
        </p:nvSpPr>
        <p:spPr>
          <a:xfrm>
            <a:off x="5348798" y="5509466"/>
            <a:ext cx="1458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dinamica più complicata </a:t>
            </a:r>
          </a:p>
          <a:p>
            <a:r>
              <a:rPr lang="it-IT" i="1" dirty="0"/>
              <a:t>in realtà…</a:t>
            </a:r>
            <a:endParaRPr lang="en-GB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C7BD0B1-241B-543E-4E79-B0AA925150C5}"/>
                  </a:ext>
                </a:extLst>
              </p:cNvPr>
              <p:cNvSpPr/>
              <p:nvPr/>
            </p:nvSpPr>
            <p:spPr>
              <a:xfrm>
                <a:off x="6546028" y="2022438"/>
                <a:ext cx="1456546" cy="147105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C7BD0B1-241B-543E-4E79-B0AA92515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028" y="2022438"/>
                <a:ext cx="1456546" cy="147105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211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D0C57C49-E813-4308-23E8-6132D810415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5783" y="1565335"/>
            <a:ext cx="5517968" cy="2313173"/>
          </a:xfrm>
          <a:prstGeom prst="rect">
            <a:avLst/>
          </a:prstGeom>
        </p:spPr>
      </p:pic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6F8A90EB-056B-ADFF-7144-5F1BAA0DE266}"/>
              </a:ext>
            </a:extLst>
          </p:cNvPr>
          <p:cNvSpPr/>
          <p:nvPr/>
        </p:nvSpPr>
        <p:spPr>
          <a:xfrm rot="10800000">
            <a:off x="5631543" y="3312159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olo isoscele 5">
            <a:extLst>
              <a:ext uri="{FF2B5EF4-FFF2-40B4-BE49-F238E27FC236}">
                <a16:creationId xmlns:a16="http://schemas.microsoft.com/office/drawing/2014/main" id="{F72068BA-5ED2-6727-FC87-14955C8F3747}"/>
              </a:ext>
            </a:extLst>
          </p:cNvPr>
          <p:cNvSpPr/>
          <p:nvPr/>
        </p:nvSpPr>
        <p:spPr>
          <a:xfrm rot="10800000">
            <a:off x="4117703" y="3312160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8EA4C1BF-7F47-63E5-6FA1-661B345F3D6E}"/>
              </a:ext>
            </a:extLst>
          </p:cNvPr>
          <p:cNvSpPr/>
          <p:nvPr/>
        </p:nvSpPr>
        <p:spPr>
          <a:xfrm>
            <a:off x="1092563" y="3278777"/>
            <a:ext cx="217714" cy="154577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124ADF-1170-9E92-FABB-51F599DB5D52}"/>
              </a:ext>
            </a:extLst>
          </p:cNvPr>
          <p:cNvSpPr txBox="1"/>
          <p:nvPr/>
        </p:nvSpPr>
        <p:spPr>
          <a:xfrm>
            <a:off x="799550" y="32486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I1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12F54-ABF8-CD3A-84E6-E23794946F40}"/>
              </a:ext>
            </a:extLst>
          </p:cNvPr>
          <p:cNvSpPr txBox="1"/>
          <p:nvPr/>
        </p:nvSpPr>
        <p:spPr>
          <a:xfrm>
            <a:off x="3786672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I2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C6963B6-F46F-689C-97ED-262D68508329}"/>
              </a:ext>
            </a:extLst>
          </p:cNvPr>
          <p:cNvSpPr txBox="1"/>
          <p:nvPr/>
        </p:nvSpPr>
        <p:spPr>
          <a:xfrm>
            <a:off x="5268943" y="3248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I3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25C473E-0960-C268-1691-BAAEFB7796AF}"/>
              </a:ext>
            </a:extLst>
          </p:cNvPr>
          <p:cNvCxnSpPr>
            <a:cxnSpLocks/>
          </p:cNvCxnSpPr>
          <p:nvPr/>
        </p:nvCxnSpPr>
        <p:spPr>
          <a:xfrm>
            <a:off x="1627798" y="3803806"/>
            <a:ext cx="671164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F78DDDE-A8BA-9D29-BB38-7EBAEDC9A686}"/>
              </a:ext>
            </a:extLst>
          </p:cNvPr>
          <p:cNvCxnSpPr>
            <a:cxnSpLocks/>
          </p:cNvCxnSpPr>
          <p:nvPr/>
        </p:nvCxnSpPr>
        <p:spPr>
          <a:xfrm flipH="1">
            <a:off x="3049541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BEE8A65E-7CF5-0488-D31A-C3C251F8B6EB}"/>
              </a:ext>
            </a:extLst>
          </p:cNvPr>
          <p:cNvCxnSpPr>
            <a:cxnSpLocks/>
          </p:cNvCxnSpPr>
          <p:nvPr/>
        </p:nvCxnSpPr>
        <p:spPr>
          <a:xfrm flipV="1">
            <a:off x="4045929" y="2533638"/>
            <a:ext cx="0" cy="602356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ccia in giù 34">
            <a:extLst>
              <a:ext uri="{FF2B5EF4-FFF2-40B4-BE49-F238E27FC236}">
                <a16:creationId xmlns:a16="http://schemas.microsoft.com/office/drawing/2014/main" id="{5D07F365-D8BF-148C-04A8-ECE2BC02DA25}"/>
              </a:ext>
            </a:extLst>
          </p:cNvPr>
          <p:cNvSpPr/>
          <p:nvPr/>
        </p:nvSpPr>
        <p:spPr>
          <a:xfrm>
            <a:off x="2890601" y="3857753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129F2AD-37C2-65C9-5AF0-8C5CEAE3171C}"/>
              </a:ext>
            </a:extLst>
          </p:cNvPr>
          <p:cNvSpPr txBox="1"/>
          <p:nvPr/>
        </p:nvSpPr>
        <p:spPr>
          <a:xfrm>
            <a:off x="3453706" y="3986829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Kirchhoff</a:t>
            </a:r>
            <a:endParaRPr lang="en-GB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3E294B-8425-FC97-56C9-C3896C761A0B}"/>
              </a:ext>
            </a:extLst>
          </p:cNvPr>
          <p:cNvSpPr txBox="1"/>
          <p:nvPr/>
        </p:nvSpPr>
        <p:spPr>
          <a:xfrm>
            <a:off x="4638834" y="3617293"/>
            <a:ext cx="1260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SORGENTI</a:t>
            </a:r>
          </a:p>
          <a:p>
            <a:r>
              <a:rPr lang="it-IT" b="1" dirty="0">
                <a:solidFill>
                  <a:srgbClr val="C00000"/>
                </a:solidFill>
              </a:rPr>
              <a:t>INCOGNITE</a:t>
            </a:r>
            <a:endParaRPr lang="en-GB" b="1" dirty="0">
              <a:solidFill>
                <a:srgbClr val="C00000"/>
              </a:solidFill>
            </a:endParaRPr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F50C2598-1268-4458-F4BA-F41A1DBBC74F}"/>
              </a:ext>
            </a:extLst>
          </p:cNvPr>
          <p:cNvCxnSpPr>
            <a:cxnSpLocks/>
          </p:cNvCxnSpPr>
          <p:nvPr/>
        </p:nvCxnSpPr>
        <p:spPr>
          <a:xfrm flipH="1" flipV="1">
            <a:off x="1195356" y="2274337"/>
            <a:ext cx="1" cy="9743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4FC2DC37-266B-6674-DD9E-3F94EEAE8A32}"/>
              </a:ext>
            </a:extLst>
          </p:cNvPr>
          <p:cNvSpPr txBox="1"/>
          <p:nvPr/>
        </p:nvSpPr>
        <p:spPr>
          <a:xfrm>
            <a:off x="8291650" y="163911"/>
            <a:ext cx="364593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Reti RESISTIVE:</a:t>
            </a:r>
          </a:p>
          <a:p>
            <a:pPr marL="342900" indent="-342900">
              <a:buAutoNum type="arabicPeriod"/>
            </a:pPr>
            <a:r>
              <a:rPr lang="it-IT" dirty="0"/>
              <a:t>Kirchhoff: rete </a:t>
            </a:r>
            <a:r>
              <a:rPr lang="it-IT" dirty="0">
                <a:sym typeface="Wingdings" panose="05000000000000000000" pitchFamily="2" charset="2"/>
              </a:rPr>
              <a:t> sistema lineare</a:t>
            </a:r>
          </a:p>
          <a:p>
            <a:pPr marL="342900" indent="-342900">
              <a:buAutoNum type="arabicPeriod"/>
            </a:pPr>
            <a:r>
              <a:rPr lang="it-IT" dirty="0">
                <a:sym typeface="Wingdings" panose="05000000000000000000" pitchFamily="2" charset="2"/>
              </a:rPr>
              <a:t>Vale sovrapposizione lineare</a:t>
            </a:r>
          </a:p>
          <a:p>
            <a:pPr marL="342900" indent="-342900">
              <a:buAutoNum type="arabicPeriod"/>
            </a:pPr>
            <a:r>
              <a:rPr lang="it-IT" dirty="0" err="1">
                <a:sym typeface="Wingdings" panose="05000000000000000000" pitchFamily="2" charset="2"/>
              </a:rPr>
              <a:t>Thevenin</a:t>
            </a:r>
            <a:r>
              <a:rPr lang="it-IT" dirty="0">
                <a:sym typeface="Wingdings" panose="05000000000000000000" pitchFamily="2" charset="2"/>
              </a:rPr>
              <a:t> e resistenza in/out</a:t>
            </a:r>
          </a:p>
          <a:p>
            <a:pPr marL="342900" indent="-342900">
              <a:buAutoNum type="arabicPeriod"/>
            </a:pPr>
            <a:r>
              <a:rPr lang="it-IT" b="1" dirty="0">
                <a:sym typeface="Wingdings" panose="05000000000000000000" pitchFamily="2" charset="2"/>
              </a:rPr>
              <a:t>COMPONENTI NON-LINEARI</a:t>
            </a:r>
            <a:r>
              <a:rPr lang="it-IT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Kirchhoff  sistema equazioni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                   linearizzazione</a:t>
            </a:r>
          </a:p>
          <a:p>
            <a:r>
              <a:rPr lang="it-IT" b="1" dirty="0">
                <a:sym typeface="Wingdings" panose="05000000000000000000" pitchFamily="2" charset="2"/>
              </a:rPr>
              <a:t>5.    COMPONENTI REATTIVI?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Kirchhoff  ODE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endParaRPr lang="it-IT" dirty="0">
              <a:sym typeface="Wingdings" panose="05000000000000000000" pitchFamily="2" charset="2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D7DCB35-C00A-8EAA-B0AB-F07EDB2E2FAA}"/>
              </a:ext>
            </a:extLst>
          </p:cNvPr>
          <p:cNvSpPr/>
          <p:nvPr/>
        </p:nvSpPr>
        <p:spPr>
          <a:xfrm>
            <a:off x="74485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9CB518E-2C7C-822D-7C1A-5E476EC78A88}"/>
              </a:ext>
            </a:extLst>
          </p:cNvPr>
          <p:cNvSpPr/>
          <p:nvPr/>
        </p:nvSpPr>
        <p:spPr>
          <a:xfrm>
            <a:off x="2253614" y="2540000"/>
            <a:ext cx="916305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8C94FB17-6761-42DB-0F89-93BED12BC270}"/>
              </a:ext>
            </a:extLst>
          </p:cNvPr>
          <p:cNvSpPr/>
          <p:nvPr/>
        </p:nvSpPr>
        <p:spPr>
          <a:xfrm>
            <a:off x="4559809" y="1785620"/>
            <a:ext cx="845436" cy="6720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B772F3C-DC54-56C6-FB0C-567A6E1C711B}"/>
              </a:ext>
            </a:extLst>
          </p:cNvPr>
          <p:cNvCxnSpPr/>
          <p:nvPr/>
        </p:nvCxnSpPr>
        <p:spPr>
          <a:xfrm flipV="1">
            <a:off x="658368" y="2457626"/>
            <a:ext cx="0" cy="75438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EA0A9187-C056-D822-4C8E-AEA989E4C6A2}"/>
              </a:ext>
            </a:extLst>
          </p:cNvPr>
          <p:cNvCxnSpPr>
            <a:cxnSpLocks/>
          </p:cNvCxnSpPr>
          <p:nvPr/>
        </p:nvCxnSpPr>
        <p:spPr>
          <a:xfrm>
            <a:off x="4570093" y="1688078"/>
            <a:ext cx="835152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F3F6A80-ACCC-F565-6335-3B432B790D9E}"/>
              </a:ext>
            </a:extLst>
          </p:cNvPr>
          <p:cNvCxnSpPr>
            <a:cxnSpLocks/>
          </p:cNvCxnSpPr>
          <p:nvPr/>
        </p:nvCxnSpPr>
        <p:spPr>
          <a:xfrm flipV="1">
            <a:off x="5438845" y="2540000"/>
            <a:ext cx="0" cy="605894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sellaDiTesto 68">
                <a:extLst>
                  <a:ext uri="{FF2B5EF4-FFF2-40B4-BE49-F238E27FC236}">
                    <a16:creationId xmlns:a16="http://schemas.microsoft.com/office/drawing/2014/main" id="{BD6600A6-23E7-7363-1B06-65895E4575DC}"/>
                  </a:ext>
                </a:extLst>
              </p:cNvPr>
              <p:cNvSpPr txBox="1"/>
              <p:nvPr/>
            </p:nvSpPr>
            <p:spPr>
              <a:xfrm>
                <a:off x="6069273" y="3466558"/>
                <a:ext cx="5635133" cy="889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  <m:brk m:alnAt="7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it-IT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it-IT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it-IT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it-IT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9" name="CasellaDiTesto 68">
                <a:extLst>
                  <a:ext uri="{FF2B5EF4-FFF2-40B4-BE49-F238E27FC236}">
                    <a16:creationId xmlns:a16="http://schemas.microsoft.com/office/drawing/2014/main" id="{BD6600A6-23E7-7363-1B06-65895E45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273" y="3466558"/>
                <a:ext cx="5635133" cy="889603"/>
              </a:xfrm>
              <a:prstGeom prst="rect">
                <a:avLst/>
              </a:prstGeom>
              <a:blipFill>
                <a:blip r:embed="rId3"/>
                <a:stretch>
                  <a:fillRect t="-2740" r="-1407" b="-8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FAAE55F6-EEC5-A5E3-CD7E-4C8952F9F8FE}"/>
                  </a:ext>
                </a:extLst>
              </p:cNvPr>
              <p:cNvSpPr txBox="1"/>
              <p:nvPr/>
            </p:nvSpPr>
            <p:spPr>
              <a:xfrm>
                <a:off x="7014905" y="5904482"/>
                <a:ext cx="2948232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dVD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GB" dirty="0"/>
                  <a:t>/</a:t>
                </a:r>
                <a:r>
                  <a:rPr lang="it-IT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it-IT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FAAE55F6-EEC5-A5E3-CD7E-4C8952F9F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905" y="5904482"/>
                <a:ext cx="2948232" cy="380810"/>
              </a:xfrm>
              <a:prstGeom prst="rect">
                <a:avLst/>
              </a:prstGeom>
              <a:blipFill>
                <a:blip r:embed="rId4"/>
                <a:stretch>
                  <a:fillRect t="-6452" b="-25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E709A1D4-F474-BED6-ED27-A2DD618188F1}"/>
              </a:ext>
            </a:extLst>
          </p:cNvPr>
          <p:cNvCxnSpPr>
            <a:cxnSpLocks/>
          </p:cNvCxnSpPr>
          <p:nvPr/>
        </p:nvCxnSpPr>
        <p:spPr>
          <a:xfrm flipV="1">
            <a:off x="9790280" y="5532876"/>
            <a:ext cx="603400" cy="4859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BBE94EE-DECF-D7B0-D932-564E6C4FB41B}"/>
              </a:ext>
            </a:extLst>
          </p:cNvPr>
          <p:cNvCxnSpPr>
            <a:cxnSpLocks/>
          </p:cNvCxnSpPr>
          <p:nvPr/>
        </p:nvCxnSpPr>
        <p:spPr>
          <a:xfrm flipH="1">
            <a:off x="1568213" y="2285902"/>
            <a:ext cx="790335" cy="0"/>
          </a:xfrm>
          <a:prstGeom prst="straightConnector1">
            <a:avLst/>
          </a:prstGeom>
          <a:ln>
            <a:solidFill>
              <a:srgbClr val="9191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B9E7959-8792-B7A5-A861-0E4DF7F2B56D}"/>
                  </a:ext>
                </a:extLst>
              </p:cNvPr>
              <p:cNvSpPr txBox="1"/>
              <p:nvPr/>
            </p:nvSpPr>
            <p:spPr>
              <a:xfrm>
                <a:off x="430773" y="4701879"/>
                <a:ext cx="524021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dt</m:t>
                    </m:r>
                    <m:r>
                      <a:rPr lang="it-IT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4)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VS</m:t>
                    </m:r>
                    <m: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>
                  <a:solidFill>
                    <a:srgbClr val="0070C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R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  <m:brk m:alnAt="7"/>
                      </m:rPr>
                      <a:rPr lang="it-IT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it-IT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it-IT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it-IT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B9E7959-8792-B7A5-A861-0E4DF7F2B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73" y="4701879"/>
                <a:ext cx="5240217" cy="830997"/>
              </a:xfrm>
              <a:prstGeom prst="rect">
                <a:avLst/>
              </a:prstGeom>
              <a:blipFill>
                <a:blip r:embed="rId5"/>
                <a:stretch>
                  <a:fillRect l="-698" r="-1630" b="-10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4AEC5055-00C3-A3C2-C96C-D7B512C42AB3}"/>
              </a:ext>
            </a:extLst>
          </p:cNvPr>
          <p:cNvCxnSpPr>
            <a:cxnSpLocks/>
          </p:cNvCxnSpPr>
          <p:nvPr/>
        </p:nvCxnSpPr>
        <p:spPr>
          <a:xfrm flipH="1" flipV="1">
            <a:off x="4751182" y="5714352"/>
            <a:ext cx="633176" cy="2567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A665FF8-CA5D-E2D4-83ED-672C8247B406}"/>
              </a:ext>
            </a:extLst>
          </p:cNvPr>
          <p:cNvCxnSpPr>
            <a:cxnSpLocks/>
          </p:cNvCxnSpPr>
          <p:nvPr/>
        </p:nvCxnSpPr>
        <p:spPr>
          <a:xfrm>
            <a:off x="6489700" y="5991860"/>
            <a:ext cx="584200" cy="1374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6EAA8D77-60C6-6096-8FCC-604AE83E7618}"/>
              </a:ext>
            </a:extLst>
          </p:cNvPr>
          <p:cNvCxnSpPr>
            <a:cxnSpLocks/>
          </p:cNvCxnSpPr>
          <p:nvPr/>
        </p:nvCxnSpPr>
        <p:spPr>
          <a:xfrm>
            <a:off x="5775863" y="565548"/>
            <a:ext cx="517088" cy="44840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9646F935-C1C4-B2D0-2BA8-C71C8E48C8FC}"/>
              </a:ext>
            </a:extLst>
          </p:cNvPr>
          <p:cNvCxnSpPr>
            <a:cxnSpLocks/>
          </p:cNvCxnSpPr>
          <p:nvPr/>
        </p:nvCxnSpPr>
        <p:spPr>
          <a:xfrm flipH="1">
            <a:off x="6956151" y="607823"/>
            <a:ext cx="200759" cy="3877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D27EFCB-33FB-7E9B-6478-195AD7559CEC}"/>
              </a:ext>
            </a:extLst>
          </p:cNvPr>
          <p:cNvSpPr txBox="1"/>
          <p:nvPr/>
        </p:nvSpPr>
        <p:spPr>
          <a:xfrm>
            <a:off x="4483165" y="220092"/>
            <a:ext cx="184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«punto di lavoro»</a:t>
            </a:r>
            <a:endParaRPr lang="en-GB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E9AAC26-F653-22A0-6D08-99764CC74E6A}"/>
              </a:ext>
            </a:extLst>
          </p:cNvPr>
          <p:cNvSpPr txBox="1"/>
          <p:nvPr/>
        </p:nvSpPr>
        <p:spPr>
          <a:xfrm>
            <a:off x="6447872" y="238491"/>
            <a:ext cx="172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«piccoli segnali»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DA2B50E3-714F-9B3D-7CFF-B060339175B7}"/>
                  </a:ext>
                </a:extLst>
              </p:cNvPr>
              <p:cNvSpPr txBox="1"/>
              <p:nvPr/>
            </p:nvSpPr>
            <p:spPr>
              <a:xfrm>
                <a:off x="5386002" y="995553"/>
                <a:ext cx="2172839" cy="295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1(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it-IT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d>
                            <m:dPr>
                              <m:ctrlPr>
                                <a:rPr lang="it-IT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DA2B50E3-714F-9B3D-7CFF-B06033917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002" y="995553"/>
                <a:ext cx="2172839" cy="295594"/>
              </a:xfrm>
              <a:prstGeom prst="rect">
                <a:avLst/>
              </a:prstGeom>
              <a:blipFill>
                <a:blip r:embed="rId6"/>
                <a:stretch>
                  <a:fillRect l="-2247" r="-562" b="-346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D5E4E35-B2F1-F8D7-9BFF-899C6E7F4A70}"/>
                  </a:ext>
                </a:extLst>
              </p:cNvPr>
              <p:cNvSpPr txBox="1"/>
              <p:nvPr/>
            </p:nvSpPr>
            <p:spPr>
              <a:xfrm>
                <a:off x="7558841" y="4628756"/>
                <a:ext cx="4314707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2)</m:t>
                              </m:r>
                            </m:e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it-IT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vS</m:t>
                              </m:r>
                              <m:r>
                                <a:rPr lang="it-IT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D5E4E35-B2F1-F8D7-9BFF-899C6E7F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841" y="4628756"/>
                <a:ext cx="4314707" cy="7875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roce 16">
            <a:extLst>
              <a:ext uri="{FF2B5EF4-FFF2-40B4-BE49-F238E27FC236}">
                <a16:creationId xmlns:a16="http://schemas.microsoft.com/office/drawing/2014/main" id="{80B8D20A-EC70-A703-58A8-E17A51ED33C7}"/>
              </a:ext>
            </a:extLst>
          </p:cNvPr>
          <p:cNvSpPr/>
          <p:nvPr/>
        </p:nvSpPr>
        <p:spPr>
          <a:xfrm rot="2671739">
            <a:off x="6210210" y="3765686"/>
            <a:ext cx="318285" cy="318285"/>
          </a:xfrm>
          <a:prstGeom prst="plus">
            <a:avLst>
              <a:gd name="adj" fmla="val 46547"/>
            </a:avLst>
          </a:prstGeom>
          <a:solidFill>
            <a:srgbClr val="FF0000">
              <a:alpha val="46000"/>
            </a:srgbClr>
          </a:solidFill>
          <a:ln>
            <a:solidFill>
              <a:srgbClr val="C00000">
                <a:alpha val="4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ccia in giù 30">
            <a:extLst>
              <a:ext uri="{FF2B5EF4-FFF2-40B4-BE49-F238E27FC236}">
                <a16:creationId xmlns:a16="http://schemas.microsoft.com/office/drawing/2014/main" id="{83A5D39E-BA91-0A2F-E38A-CD1C3A482EDE}"/>
              </a:ext>
            </a:extLst>
          </p:cNvPr>
          <p:cNvSpPr/>
          <p:nvPr/>
        </p:nvSpPr>
        <p:spPr>
          <a:xfrm>
            <a:off x="1694628" y="913665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Parentesi graffa chiusa 31">
            <a:extLst>
              <a:ext uri="{FF2B5EF4-FFF2-40B4-BE49-F238E27FC236}">
                <a16:creationId xmlns:a16="http://schemas.microsoft.com/office/drawing/2014/main" id="{CC6DA1C5-B9ED-9C9F-672D-8BF26C13B756}"/>
              </a:ext>
            </a:extLst>
          </p:cNvPr>
          <p:cNvSpPr/>
          <p:nvPr/>
        </p:nvSpPr>
        <p:spPr>
          <a:xfrm rot="5400000">
            <a:off x="4020573" y="4739434"/>
            <a:ext cx="157971" cy="1859281"/>
          </a:xfrm>
          <a:prstGeom prst="rightBrace">
            <a:avLst>
              <a:gd name="adj1" fmla="val 30844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65A144E8-C31B-BEAE-84B7-BD53578B9231}"/>
                  </a:ext>
                </a:extLst>
              </p:cNvPr>
              <p:cNvSpPr txBox="1"/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VD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65A144E8-C31B-BEAE-84B7-BD53578B9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113" y="5712883"/>
                <a:ext cx="77043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82288AA-C71E-2068-402E-A57767C1F3C7}"/>
              </a:ext>
            </a:extLst>
          </p:cNvPr>
          <p:cNvSpPr txBox="1"/>
          <p:nvPr/>
        </p:nvSpPr>
        <p:spPr>
          <a:xfrm>
            <a:off x="5348798" y="5509466"/>
            <a:ext cx="1458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dinamica più complicata </a:t>
            </a:r>
          </a:p>
          <a:p>
            <a:r>
              <a:rPr lang="it-IT" i="1" dirty="0"/>
              <a:t>in realtà…</a:t>
            </a:r>
            <a:endParaRPr lang="en-GB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053831B-885F-8F86-8C25-B52C7737E542}"/>
                  </a:ext>
                </a:extLst>
              </p:cNvPr>
              <p:cNvSpPr/>
              <p:nvPr/>
            </p:nvSpPr>
            <p:spPr>
              <a:xfrm>
                <a:off x="6546028" y="2022438"/>
                <a:ext cx="1456546" cy="147105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053831B-885F-8F86-8C25-B52C7737E5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028" y="2022438"/>
                <a:ext cx="1456546" cy="147105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6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D0C57C49-E813-4308-23E8-6132D810415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5783" y="1565335"/>
            <a:ext cx="5517968" cy="2313173"/>
          </a:xfrm>
          <a:prstGeom prst="rect">
            <a:avLst/>
          </a:prstGeom>
        </p:spPr>
      </p:pic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592E2BC0-95EB-9712-9B64-6007355CD121}"/>
              </a:ext>
            </a:extLst>
          </p:cNvPr>
          <p:cNvSpPr/>
          <p:nvPr/>
        </p:nvSpPr>
        <p:spPr>
          <a:xfrm>
            <a:off x="1261914" y="2177477"/>
            <a:ext cx="2855788" cy="13728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2" name="Immagine 31" descr="Immagine che contiene testo, Carattere, schermata, calligrafia&#10;&#10;Descrizione generata automaticamente">
            <a:extLst>
              <a:ext uri="{FF2B5EF4-FFF2-40B4-BE49-F238E27FC236}">
                <a16:creationId xmlns:a16="http://schemas.microsoft.com/office/drawing/2014/main" id="{A1EB725A-A63A-88F1-2B3D-0890C2986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94"/>
          <a:stretch/>
        </p:blipFill>
        <p:spPr>
          <a:xfrm>
            <a:off x="7824910" y="733074"/>
            <a:ext cx="3193057" cy="2553681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8C19975-2467-B41C-4FAD-75D2412602C0}"/>
              </a:ext>
            </a:extLst>
          </p:cNvPr>
          <p:cNvSpPr txBox="1"/>
          <p:nvPr/>
        </p:nvSpPr>
        <p:spPr>
          <a:xfrm>
            <a:off x="553357" y="733074"/>
            <a:ext cx="3056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Origine delle leggi…</a:t>
            </a:r>
          </a:p>
          <a:p>
            <a:r>
              <a:rPr lang="it-IT" dirty="0">
                <a:sym typeface="Wingdings" panose="05000000000000000000" pitchFamily="2" charset="2"/>
              </a:rPr>
              <a:t> Maglie (II legge di Maxwell)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FCC0AD30-B338-A6F4-F90D-F96F817ECBC8}"/>
                  </a:ext>
                </a:extLst>
              </p:cNvPr>
              <p:cNvSpPr txBox="1"/>
              <p:nvPr/>
            </p:nvSpPr>
            <p:spPr>
              <a:xfrm>
                <a:off x="1627241" y="4405633"/>
                <a:ext cx="2125134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GB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en-GB" i="1" smtClean="0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1" i="1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/>
                            </m:rPr>
                            <a:rPr lang="en-GB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it-IT" b="0" i="1" smtClean="0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1" i="1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acc>
                        </m:e>
                      </m:nary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⃑"/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FCC0AD30-B338-A6F4-F90D-F96F817EC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241" y="4405633"/>
                <a:ext cx="2125134" cy="726546"/>
              </a:xfrm>
              <a:prstGeom prst="rect">
                <a:avLst/>
              </a:prstGeom>
              <a:blipFill>
                <a:blip r:embed="rId4"/>
                <a:stretch>
                  <a:fillRect r="-5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8B6CE371-117A-4122-4C3B-C77E5FEFBCF2}"/>
              </a:ext>
            </a:extLst>
          </p:cNvPr>
          <p:cNvCxnSpPr>
            <a:cxnSpLocks/>
          </p:cNvCxnSpPr>
          <p:nvPr/>
        </p:nvCxnSpPr>
        <p:spPr>
          <a:xfrm flipH="1" flipV="1">
            <a:off x="3812364" y="4875400"/>
            <a:ext cx="633176" cy="2567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roce 47">
            <a:extLst>
              <a:ext uri="{FF2B5EF4-FFF2-40B4-BE49-F238E27FC236}">
                <a16:creationId xmlns:a16="http://schemas.microsoft.com/office/drawing/2014/main" id="{E6A6C913-F712-C4D6-BAAB-845E0DDAEB1C}"/>
              </a:ext>
            </a:extLst>
          </p:cNvPr>
          <p:cNvSpPr/>
          <p:nvPr/>
        </p:nvSpPr>
        <p:spPr>
          <a:xfrm rot="2671739">
            <a:off x="2850953" y="4297591"/>
            <a:ext cx="882063" cy="882063"/>
          </a:xfrm>
          <a:prstGeom prst="plus">
            <a:avLst>
              <a:gd name="adj" fmla="val 46547"/>
            </a:avLst>
          </a:prstGeom>
          <a:solidFill>
            <a:srgbClr val="FF0000">
              <a:alpha val="46000"/>
            </a:srgbClr>
          </a:solidFill>
          <a:ln>
            <a:solidFill>
              <a:srgbClr val="C00000">
                <a:alpha val="4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1B7196AF-20AC-3E79-EE25-E003F6E1BD39}"/>
              </a:ext>
            </a:extLst>
          </p:cNvPr>
          <p:cNvSpPr txBox="1"/>
          <p:nvPr/>
        </p:nvSpPr>
        <p:spPr>
          <a:xfrm>
            <a:off x="4445540" y="4862690"/>
            <a:ext cx="135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trascurato ma occhio…</a:t>
            </a:r>
            <a:endParaRPr lang="en-GB" i="1" dirty="0"/>
          </a:p>
        </p:txBody>
      </p:sp>
      <p:pic>
        <p:nvPicPr>
          <p:cNvPr id="51" name="Immagine 50" descr="Immagine che contiene diagramma, testo, linea, schizzo&#10;&#10;Descrizione generata automaticamente">
            <a:extLst>
              <a:ext uri="{FF2B5EF4-FFF2-40B4-BE49-F238E27FC236}">
                <a16:creationId xmlns:a16="http://schemas.microsoft.com/office/drawing/2014/main" id="{F04A327E-CDA8-43D9-0062-07F44CFD1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960" y="3691854"/>
            <a:ext cx="5182410" cy="2580084"/>
          </a:xfrm>
          <a:prstGeom prst="rect">
            <a:avLst/>
          </a:prstGeom>
        </p:spPr>
      </p:pic>
      <p:sp>
        <p:nvSpPr>
          <p:cNvPr id="52" name="Freccia in giù 51">
            <a:extLst>
              <a:ext uri="{FF2B5EF4-FFF2-40B4-BE49-F238E27FC236}">
                <a16:creationId xmlns:a16="http://schemas.microsoft.com/office/drawing/2014/main" id="{0495E3E3-F8F4-48AF-1E22-D2307A86C25E}"/>
              </a:ext>
            </a:extLst>
          </p:cNvPr>
          <p:cNvSpPr/>
          <p:nvPr/>
        </p:nvSpPr>
        <p:spPr>
          <a:xfrm rot="16200000">
            <a:off x="7391060" y="1334415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906415-5BFC-244A-4FD4-D2065147DCE7}"/>
              </a:ext>
            </a:extLst>
          </p:cNvPr>
          <p:cNvSpPr txBox="1"/>
          <p:nvPr/>
        </p:nvSpPr>
        <p:spPr>
          <a:xfrm>
            <a:off x="1463041" y="3980329"/>
            <a:ext cx="260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Legge di Faraday-Maxwell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62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D0C57C49-E813-4308-23E8-6132D810415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5783" y="1565335"/>
            <a:ext cx="5517968" cy="2313173"/>
          </a:xfrm>
          <a:prstGeom prst="rect">
            <a:avLst/>
          </a:prstGeom>
        </p:spPr>
      </p:pic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2" name="Immagine 31" descr="Immagine che contiene testo, Carattere, schermata, calligrafia&#10;&#10;Descrizione generata automaticamente">
            <a:extLst>
              <a:ext uri="{FF2B5EF4-FFF2-40B4-BE49-F238E27FC236}">
                <a16:creationId xmlns:a16="http://schemas.microsoft.com/office/drawing/2014/main" id="{A1EB725A-A63A-88F1-2B3D-0890C2986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94"/>
          <a:stretch/>
        </p:blipFill>
        <p:spPr>
          <a:xfrm>
            <a:off x="7824910" y="733074"/>
            <a:ext cx="3193057" cy="2553681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8C19975-2467-B41C-4FAD-75D2412602C0}"/>
              </a:ext>
            </a:extLst>
          </p:cNvPr>
          <p:cNvSpPr txBox="1"/>
          <p:nvPr/>
        </p:nvSpPr>
        <p:spPr>
          <a:xfrm>
            <a:off x="553357" y="733074"/>
            <a:ext cx="34737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Origine delle leggi…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it-IT" dirty="0">
                <a:sym typeface="Wingdings" panose="05000000000000000000" pitchFamily="2" charset="2"/>
              </a:rPr>
              <a:t>Maglie (II legge di Maxwell)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it-IT" dirty="0">
                <a:sym typeface="Wingdings" panose="05000000000000000000" pitchFamily="2" charset="2"/>
              </a:rPr>
              <a:t>Nodi (I e IV legge, </a:t>
            </a:r>
            <a:r>
              <a:rPr lang="it-IT" dirty="0" err="1">
                <a:sym typeface="Wingdings" panose="05000000000000000000" pitchFamily="2" charset="2"/>
              </a:rPr>
              <a:t>eq.continuità</a:t>
            </a:r>
            <a:r>
              <a:rPr lang="it-IT" dirty="0">
                <a:sym typeface="Wingdings" panose="05000000000000000000" pitchFamily="2" charset="2"/>
              </a:rPr>
              <a:t>)</a:t>
            </a:r>
            <a:endParaRPr lang="en-GB" dirty="0"/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8B6CE371-117A-4122-4C3B-C77E5FEFBCF2}"/>
              </a:ext>
            </a:extLst>
          </p:cNvPr>
          <p:cNvCxnSpPr>
            <a:cxnSpLocks/>
          </p:cNvCxnSpPr>
          <p:nvPr/>
        </p:nvCxnSpPr>
        <p:spPr>
          <a:xfrm flipH="1" flipV="1">
            <a:off x="3710540" y="5910360"/>
            <a:ext cx="755642" cy="223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1B7196AF-20AC-3E79-EE25-E003F6E1BD39}"/>
              </a:ext>
            </a:extLst>
          </p:cNvPr>
          <p:cNvSpPr txBox="1"/>
          <p:nvPr/>
        </p:nvSpPr>
        <p:spPr>
          <a:xfrm>
            <a:off x="4466182" y="5560123"/>
            <a:ext cx="2879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trascurato accumulo di carica, self-</a:t>
            </a:r>
            <a:r>
              <a:rPr lang="it-IT" i="1" dirty="0" err="1"/>
              <a:t>capacitance</a:t>
            </a:r>
            <a:r>
              <a:rPr lang="it-IT" i="1" dirty="0"/>
              <a:t>, </a:t>
            </a:r>
            <a:r>
              <a:rPr lang="it-IT" i="1" dirty="0" err="1"/>
              <a:t>etc</a:t>
            </a:r>
            <a:endParaRPr lang="en-GB" i="1" dirty="0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4BF56C53-CEFB-E293-774A-AD494BBC10B9}"/>
              </a:ext>
            </a:extLst>
          </p:cNvPr>
          <p:cNvSpPr/>
          <p:nvPr/>
        </p:nvSpPr>
        <p:spPr>
          <a:xfrm>
            <a:off x="2524008" y="1923426"/>
            <a:ext cx="391885" cy="391885"/>
          </a:xfrm>
          <a:prstGeom prst="ellipse">
            <a:avLst/>
          </a:prstGeom>
          <a:solidFill>
            <a:srgbClr val="0070C0">
              <a:alpha val="35000"/>
            </a:srgb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ccia in giù 2">
            <a:extLst>
              <a:ext uri="{FF2B5EF4-FFF2-40B4-BE49-F238E27FC236}">
                <a16:creationId xmlns:a16="http://schemas.microsoft.com/office/drawing/2014/main" id="{67A907EB-D9F8-9823-571F-2C642CB67A53}"/>
              </a:ext>
            </a:extLst>
          </p:cNvPr>
          <p:cNvSpPr/>
          <p:nvPr/>
        </p:nvSpPr>
        <p:spPr>
          <a:xfrm rot="16200000">
            <a:off x="7391060" y="742497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ccia in giù 3">
            <a:extLst>
              <a:ext uri="{FF2B5EF4-FFF2-40B4-BE49-F238E27FC236}">
                <a16:creationId xmlns:a16="http://schemas.microsoft.com/office/drawing/2014/main" id="{F8BA7DA0-6EFF-2A7A-FED0-0B148CC05FAE}"/>
              </a:ext>
            </a:extLst>
          </p:cNvPr>
          <p:cNvSpPr/>
          <p:nvPr/>
        </p:nvSpPr>
        <p:spPr>
          <a:xfrm rot="16200000">
            <a:off x="7391060" y="2583652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2841D5F-43C3-2AF9-7AB2-E73670C4196D}"/>
                  </a:ext>
                </a:extLst>
              </p:cNvPr>
              <p:cNvSpPr txBox="1"/>
              <p:nvPr/>
            </p:nvSpPr>
            <p:spPr>
              <a:xfrm>
                <a:off x="6167538" y="1713474"/>
                <a:ext cx="1417952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it-IT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it-IT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it-IT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2841D5F-43C3-2AF9-7AB2-E73670C41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538" y="1713474"/>
                <a:ext cx="1417952" cy="526683"/>
              </a:xfrm>
              <a:prstGeom prst="rect">
                <a:avLst/>
              </a:prstGeom>
              <a:blipFill>
                <a:blip r:embed="rId5"/>
                <a:stretch>
                  <a:fillRect b="-8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1865C00-DA19-4949-6B5B-FACA8E167B56}"/>
                  </a:ext>
                </a:extLst>
              </p:cNvPr>
              <p:cNvSpPr txBox="1"/>
              <p:nvPr/>
            </p:nvSpPr>
            <p:spPr>
              <a:xfrm>
                <a:off x="1804984" y="5455542"/>
                <a:ext cx="1691039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it-IT" i="1" smtClean="0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it-IT" i="1">
                                  <a:solidFill>
                                    <a:srgbClr val="0070C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solidFill>
                                    <a:srgbClr val="0070C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GB" i="1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i="1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it-IT" i="1">
                                  <a:solidFill>
                                    <a:srgbClr val="0070C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solidFill>
                                    <a:srgbClr val="0070C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nary>
                      <m:r>
                        <a:rPr lang="it-IT" b="0" i="1" smtClean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1865C00-DA19-4949-6B5B-FACA8E167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984" y="5455542"/>
                <a:ext cx="1691039" cy="726546"/>
              </a:xfrm>
              <a:prstGeom prst="rect">
                <a:avLst/>
              </a:prstGeom>
              <a:blipFill>
                <a:blip r:embed="rId6"/>
                <a:stretch>
                  <a:fillRect r="-18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roce 6">
            <a:extLst>
              <a:ext uri="{FF2B5EF4-FFF2-40B4-BE49-F238E27FC236}">
                <a16:creationId xmlns:a16="http://schemas.microsoft.com/office/drawing/2014/main" id="{1530A043-8052-D60E-AC06-2D227A64F4CF}"/>
              </a:ext>
            </a:extLst>
          </p:cNvPr>
          <p:cNvSpPr/>
          <p:nvPr/>
        </p:nvSpPr>
        <p:spPr>
          <a:xfrm rot="2671739">
            <a:off x="2817713" y="5351835"/>
            <a:ext cx="882063" cy="882063"/>
          </a:xfrm>
          <a:prstGeom prst="plus">
            <a:avLst>
              <a:gd name="adj" fmla="val 46547"/>
            </a:avLst>
          </a:prstGeom>
          <a:solidFill>
            <a:srgbClr val="FF0000">
              <a:alpha val="46000"/>
            </a:srgbClr>
          </a:solidFill>
          <a:ln>
            <a:solidFill>
              <a:srgbClr val="C00000">
                <a:alpha val="4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43">
                <a:extLst>
                  <a:ext uri="{FF2B5EF4-FFF2-40B4-BE49-F238E27FC236}">
                    <a16:creationId xmlns:a16="http://schemas.microsoft.com/office/drawing/2014/main" id="{40A21730-54EA-4E88-4E7B-FBB622B3D4E0}"/>
                  </a:ext>
                </a:extLst>
              </p:cNvPr>
              <p:cNvSpPr txBox="1"/>
              <p:nvPr/>
            </p:nvSpPr>
            <p:spPr>
              <a:xfrm>
                <a:off x="1627241" y="4405633"/>
                <a:ext cx="2125134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GB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en-GB" i="1" smtClean="0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1" i="1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/>
                            </m:rPr>
                            <a:rPr lang="en-GB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it-IT" b="0" i="1" smtClean="0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1" i="1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acc>
                        </m:e>
                      </m:nary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⃑"/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CasellaDiTesto 43">
                <a:extLst>
                  <a:ext uri="{FF2B5EF4-FFF2-40B4-BE49-F238E27FC236}">
                    <a16:creationId xmlns:a16="http://schemas.microsoft.com/office/drawing/2014/main" id="{40A21730-54EA-4E88-4E7B-FBB622B3D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241" y="4405633"/>
                <a:ext cx="2125134" cy="726546"/>
              </a:xfrm>
              <a:prstGeom prst="rect">
                <a:avLst/>
              </a:prstGeom>
              <a:blipFill>
                <a:blip r:embed="rId7"/>
                <a:stretch>
                  <a:fillRect r="-5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roce 47">
            <a:extLst>
              <a:ext uri="{FF2B5EF4-FFF2-40B4-BE49-F238E27FC236}">
                <a16:creationId xmlns:a16="http://schemas.microsoft.com/office/drawing/2014/main" id="{FF43928C-FD58-6560-16FA-FEA8332BDAEF}"/>
              </a:ext>
            </a:extLst>
          </p:cNvPr>
          <p:cNvSpPr/>
          <p:nvPr/>
        </p:nvSpPr>
        <p:spPr>
          <a:xfrm rot="2671739">
            <a:off x="2850953" y="4297591"/>
            <a:ext cx="882063" cy="882063"/>
          </a:xfrm>
          <a:prstGeom prst="plus">
            <a:avLst>
              <a:gd name="adj" fmla="val 46547"/>
            </a:avLst>
          </a:prstGeom>
          <a:solidFill>
            <a:srgbClr val="FF0000">
              <a:alpha val="46000"/>
            </a:srgbClr>
          </a:solidFill>
          <a:ln>
            <a:solidFill>
              <a:srgbClr val="C00000">
                <a:alpha val="4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DA424-6C4C-A18F-EFC6-88E1F7939F54}"/>
              </a:ext>
            </a:extLst>
          </p:cNvPr>
          <p:cNvSpPr txBox="1"/>
          <p:nvPr/>
        </p:nvSpPr>
        <p:spPr>
          <a:xfrm>
            <a:off x="1463041" y="3980329"/>
            <a:ext cx="260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Legge di Faraday-Maxwell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718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D0C57C49-E813-4308-23E8-6132D810415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5783" y="1565335"/>
            <a:ext cx="5517968" cy="2313173"/>
          </a:xfrm>
          <a:prstGeom prst="rect">
            <a:avLst/>
          </a:prstGeom>
        </p:spPr>
      </p:pic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C216151-9C46-1F40-E82F-10F31B383E4E}"/>
              </a:ext>
            </a:extLst>
          </p:cNvPr>
          <p:cNvSpPr txBox="1"/>
          <p:nvPr/>
        </p:nvSpPr>
        <p:spPr>
          <a:xfrm>
            <a:off x="-7245" y="-6854"/>
            <a:ext cx="4136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r>
              <a:rPr lang="it-IT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Kirchhoff et al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2" name="Immagine 31" descr="Immagine che contiene testo, Carattere, schermata, calligrafia&#10;&#10;Descrizione generata automaticamente">
            <a:extLst>
              <a:ext uri="{FF2B5EF4-FFF2-40B4-BE49-F238E27FC236}">
                <a16:creationId xmlns:a16="http://schemas.microsoft.com/office/drawing/2014/main" id="{A1EB725A-A63A-88F1-2B3D-0890C2986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94"/>
          <a:stretch/>
        </p:blipFill>
        <p:spPr>
          <a:xfrm>
            <a:off x="7824910" y="733074"/>
            <a:ext cx="3193057" cy="2553681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8C19975-2467-B41C-4FAD-75D2412602C0}"/>
              </a:ext>
            </a:extLst>
          </p:cNvPr>
          <p:cNvSpPr txBox="1"/>
          <p:nvPr/>
        </p:nvSpPr>
        <p:spPr>
          <a:xfrm>
            <a:off x="553357" y="733074"/>
            <a:ext cx="34737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Origine delle leggi…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it-IT" dirty="0">
                <a:sym typeface="Wingdings" panose="05000000000000000000" pitchFamily="2" charset="2"/>
              </a:rPr>
              <a:t>Maglie (II legge di Maxwell)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it-IT" dirty="0">
                <a:sym typeface="Wingdings" panose="05000000000000000000" pitchFamily="2" charset="2"/>
              </a:rPr>
              <a:t>Nodi (I e IV legge, </a:t>
            </a:r>
            <a:r>
              <a:rPr lang="it-IT" dirty="0" err="1">
                <a:sym typeface="Wingdings" panose="05000000000000000000" pitchFamily="2" charset="2"/>
              </a:rPr>
              <a:t>eq.continuità</a:t>
            </a:r>
            <a:r>
              <a:rPr lang="it-IT" dirty="0">
                <a:sym typeface="Wingdings" panose="05000000000000000000" pitchFamily="2" charset="2"/>
              </a:rPr>
              <a:t>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FCC0AD30-B338-A6F4-F90D-F96F817ECBC8}"/>
                  </a:ext>
                </a:extLst>
              </p:cNvPr>
              <p:cNvSpPr txBox="1"/>
              <p:nvPr/>
            </p:nvSpPr>
            <p:spPr>
              <a:xfrm>
                <a:off x="1627241" y="3878508"/>
                <a:ext cx="2125134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GB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en-GB" i="1" smtClean="0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1" i="1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/>
                            </m:rPr>
                            <a:rPr lang="en-GB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it-IT" b="0" i="1" smtClean="0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1" i="1">
                                  <a:solidFill>
                                    <a:srgbClr val="C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acc>
                        </m:e>
                      </m:nary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⃑"/>
                          <m:ctrlPr>
                            <a:rPr lang="it-IT" b="0" i="1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lang="it-IT" b="0" i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FCC0AD30-B338-A6F4-F90D-F96F817EC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241" y="3878508"/>
                <a:ext cx="2125134" cy="726546"/>
              </a:xfrm>
              <a:prstGeom prst="rect">
                <a:avLst/>
              </a:prstGeom>
              <a:blipFill>
                <a:blip r:embed="rId4"/>
                <a:stretch>
                  <a:fillRect r="-5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Croce 47">
            <a:extLst>
              <a:ext uri="{FF2B5EF4-FFF2-40B4-BE49-F238E27FC236}">
                <a16:creationId xmlns:a16="http://schemas.microsoft.com/office/drawing/2014/main" id="{E6A6C913-F712-C4D6-BAAB-845E0DDAEB1C}"/>
              </a:ext>
            </a:extLst>
          </p:cNvPr>
          <p:cNvSpPr/>
          <p:nvPr/>
        </p:nvSpPr>
        <p:spPr>
          <a:xfrm rot="2671739">
            <a:off x="2872468" y="3748951"/>
            <a:ext cx="882063" cy="882063"/>
          </a:xfrm>
          <a:prstGeom prst="plus">
            <a:avLst>
              <a:gd name="adj" fmla="val 46547"/>
            </a:avLst>
          </a:prstGeom>
          <a:solidFill>
            <a:srgbClr val="FF0000">
              <a:alpha val="46000"/>
            </a:srgbClr>
          </a:solidFill>
          <a:ln>
            <a:solidFill>
              <a:srgbClr val="C00000">
                <a:alpha val="4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4BF56C53-CEFB-E293-774A-AD494BBC10B9}"/>
              </a:ext>
            </a:extLst>
          </p:cNvPr>
          <p:cNvSpPr/>
          <p:nvPr/>
        </p:nvSpPr>
        <p:spPr>
          <a:xfrm>
            <a:off x="2524008" y="1923426"/>
            <a:ext cx="391885" cy="391885"/>
          </a:xfrm>
          <a:prstGeom prst="ellipse">
            <a:avLst/>
          </a:prstGeom>
          <a:solidFill>
            <a:srgbClr val="0070C0">
              <a:alpha val="35000"/>
            </a:srgb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ccia in giù 2">
            <a:extLst>
              <a:ext uri="{FF2B5EF4-FFF2-40B4-BE49-F238E27FC236}">
                <a16:creationId xmlns:a16="http://schemas.microsoft.com/office/drawing/2014/main" id="{67A907EB-D9F8-9823-571F-2C642CB67A53}"/>
              </a:ext>
            </a:extLst>
          </p:cNvPr>
          <p:cNvSpPr/>
          <p:nvPr/>
        </p:nvSpPr>
        <p:spPr>
          <a:xfrm rot="16200000">
            <a:off x="7391060" y="742497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ccia in giù 3">
            <a:extLst>
              <a:ext uri="{FF2B5EF4-FFF2-40B4-BE49-F238E27FC236}">
                <a16:creationId xmlns:a16="http://schemas.microsoft.com/office/drawing/2014/main" id="{F8BA7DA0-6EFF-2A7A-FED0-0B148CC05FAE}"/>
              </a:ext>
            </a:extLst>
          </p:cNvPr>
          <p:cNvSpPr/>
          <p:nvPr/>
        </p:nvSpPr>
        <p:spPr>
          <a:xfrm rot="16200000">
            <a:off x="7391060" y="2583652"/>
            <a:ext cx="537504" cy="627484"/>
          </a:xfrm>
          <a:prstGeom prst="downArrow">
            <a:avLst>
              <a:gd name="adj1" fmla="val 50000"/>
              <a:gd name="adj2" fmla="val 295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2841D5F-43C3-2AF9-7AB2-E73670C4196D}"/>
                  </a:ext>
                </a:extLst>
              </p:cNvPr>
              <p:cNvSpPr txBox="1"/>
              <p:nvPr/>
            </p:nvSpPr>
            <p:spPr>
              <a:xfrm>
                <a:off x="6167538" y="1713474"/>
                <a:ext cx="1417952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it-IT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it-IT" i="1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it-IT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2841D5F-43C3-2AF9-7AB2-E73670C41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538" y="1713474"/>
                <a:ext cx="1417952" cy="526683"/>
              </a:xfrm>
              <a:prstGeom prst="rect">
                <a:avLst/>
              </a:prstGeom>
              <a:blipFill>
                <a:blip r:embed="rId5"/>
                <a:stretch>
                  <a:fillRect b="-8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black figure with lines and symbols&#10;&#10;Description automatically generated">
            <a:extLst>
              <a:ext uri="{FF2B5EF4-FFF2-40B4-BE49-F238E27FC236}">
                <a16:creationId xmlns:a16="http://schemas.microsoft.com/office/drawing/2014/main" id="{DAE6DC5A-87CB-54B9-51E7-CC1545348C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849" y="3878508"/>
            <a:ext cx="4053640" cy="1715002"/>
          </a:xfrm>
          <a:prstGeom prst="rect">
            <a:avLst/>
          </a:prstGeom>
        </p:spPr>
      </p:pic>
      <p:cxnSp>
        <p:nvCxnSpPr>
          <p:cNvPr id="8" name="Connettore 2 46">
            <a:extLst>
              <a:ext uri="{FF2B5EF4-FFF2-40B4-BE49-F238E27FC236}">
                <a16:creationId xmlns:a16="http://schemas.microsoft.com/office/drawing/2014/main" id="{EF441C8F-488F-051B-10FB-762B752AE315}"/>
              </a:ext>
            </a:extLst>
          </p:cNvPr>
          <p:cNvCxnSpPr>
            <a:cxnSpLocks/>
          </p:cNvCxnSpPr>
          <p:nvPr/>
        </p:nvCxnSpPr>
        <p:spPr>
          <a:xfrm flipH="1" flipV="1">
            <a:off x="3710540" y="5910360"/>
            <a:ext cx="755642" cy="223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48">
            <a:extLst>
              <a:ext uri="{FF2B5EF4-FFF2-40B4-BE49-F238E27FC236}">
                <a16:creationId xmlns:a16="http://schemas.microsoft.com/office/drawing/2014/main" id="{DFBEDB01-99BA-FAAB-2B70-6779A4CBEDF4}"/>
              </a:ext>
            </a:extLst>
          </p:cNvPr>
          <p:cNvSpPr txBox="1"/>
          <p:nvPr/>
        </p:nvSpPr>
        <p:spPr>
          <a:xfrm>
            <a:off x="4466182" y="5560123"/>
            <a:ext cx="2879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trascurato accumulo di carica, self-</a:t>
            </a:r>
            <a:r>
              <a:rPr lang="it-IT" i="1" dirty="0" err="1"/>
              <a:t>capacitance</a:t>
            </a:r>
            <a:r>
              <a:rPr lang="it-IT" i="1" dirty="0"/>
              <a:t>, </a:t>
            </a:r>
            <a:r>
              <a:rPr lang="it-IT" i="1" dirty="0" err="1"/>
              <a:t>etc</a:t>
            </a:r>
            <a:endParaRPr lang="en-GB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5">
                <a:extLst>
                  <a:ext uri="{FF2B5EF4-FFF2-40B4-BE49-F238E27FC236}">
                    <a16:creationId xmlns:a16="http://schemas.microsoft.com/office/drawing/2014/main" id="{2B0E7EC5-6D15-0A4C-70A9-6789E976AC07}"/>
                  </a:ext>
                </a:extLst>
              </p:cNvPr>
              <p:cNvSpPr txBox="1"/>
              <p:nvPr/>
            </p:nvSpPr>
            <p:spPr>
              <a:xfrm>
                <a:off x="1804984" y="5455542"/>
                <a:ext cx="1691039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it-IT" i="1" smtClean="0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it-IT" i="1">
                                  <a:solidFill>
                                    <a:srgbClr val="0070C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solidFill>
                                    <a:srgbClr val="0070C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GB" i="1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i="1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it-IT" i="1">
                                  <a:solidFill>
                                    <a:srgbClr val="0070C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solidFill>
                                    <a:srgbClr val="0070C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nary>
                      <m:r>
                        <a:rPr lang="it-IT" b="0" i="1" smtClean="0">
                          <a:solidFill>
                            <a:srgbClr val="0070C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rgbClr val="0070C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1" name="CasellaDiTesto 5">
                <a:extLst>
                  <a:ext uri="{FF2B5EF4-FFF2-40B4-BE49-F238E27FC236}">
                    <a16:creationId xmlns:a16="http://schemas.microsoft.com/office/drawing/2014/main" id="{2B0E7EC5-6D15-0A4C-70A9-6789E976A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984" y="5455542"/>
                <a:ext cx="1691039" cy="726546"/>
              </a:xfrm>
              <a:prstGeom prst="rect">
                <a:avLst/>
              </a:prstGeom>
              <a:blipFill>
                <a:blip r:embed="rId7"/>
                <a:stretch>
                  <a:fillRect r="-18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66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8AC4C99236CE4EA39416E42A80A1B0" ma:contentTypeVersion="10" ma:contentTypeDescription="Create a new document." ma:contentTypeScope="" ma:versionID="377f0b612149ecce2416e13227e8028d">
  <xsd:schema xmlns:xsd="http://www.w3.org/2001/XMLSchema" xmlns:xs="http://www.w3.org/2001/XMLSchema" xmlns:p="http://schemas.microsoft.com/office/2006/metadata/properties" xmlns:ns2="6483074e-c835-4867-8b55-1257fbf7b3c2" xmlns:ns3="03c3261e-6a47-4343-9c08-b844d05f21a3" targetNamespace="http://schemas.microsoft.com/office/2006/metadata/properties" ma:root="true" ma:fieldsID="90f965f13ac75ff75cfeb164ccab417c" ns2:_="" ns3:_="">
    <xsd:import namespace="6483074e-c835-4867-8b55-1257fbf7b3c2"/>
    <xsd:import namespace="03c3261e-6a47-4343-9c08-b844d05f21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83074e-c835-4867-8b55-1257fbf7b3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916a575-a2c4-47fb-bb3c-b06084ed58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3261e-6a47-4343-9c08-b844d05f21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307e1f1-28ac-41b8-a9c3-a6347c722c2c}" ma:internalName="TaxCatchAll" ma:showField="CatchAllData" ma:web="03c3261e-6a47-4343-9c08-b844d05f21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83074e-c835-4867-8b55-1257fbf7b3c2">
      <Terms xmlns="http://schemas.microsoft.com/office/infopath/2007/PartnerControls"/>
    </lcf76f155ced4ddcb4097134ff3c332f>
    <TaxCatchAll xmlns="03c3261e-6a47-4343-9c08-b844d05f21a3" xsi:nil="true"/>
  </documentManagement>
</p:properties>
</file>

<file path=customXml/itemProps1.xml><?xml version="1.0" encoding="utf-8"?>
<ds:datastoreItem xmlns:ds="http://schemas.openxmlformats.org/officeDocument/2006/customXml" ds:itemID="{36B4D563-97BA-4C2D-BF26-3F09AC232CEF}"/>
</file>

<file path=customXml/itemProps2.xml><?xml version="1.0" encoding="utf-8"?>
<ds:datastoreItem xmlns:ds="http://schemas.openxmlformats.org/officeDocument/2006/customXml" ds:itemID="{84D67052-E17F-4541-B647-5C83DB77A159}"/>
</file>

<file path=customXml/itemProps3.xml><?xml version="1.0" encoding="utf-8"?>
<ds:datastoreItem xmlns:ds="http://schemas.openxmlformats.org/officeDocument/2006/customXml" ds:itemID="{2293C95F-9262-4BAE-BE60-E14CFA71FC21}"/>
</file>

<file path=docProps/app.xml><?xml version="1.0" encoding="utf-8"?>
<Properties xmlns="http://schemas.openxmlformats.org/officeDocument/2006/extended-properties" xmlns:vt="http://schemas.openxmlformats.org/officeDocument/2006/docPropsVTypes">
  <TotalTime>34184</TotalTime>
  <Words>1882</Words>
  <Application>Microsoft Office PowerPoint</Application>
  <PresentationFormat>Widescreen</PresentationFormat>
  <Paragraphs>470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Roddaro</dc:creator>
  <cp:lastModifiedBy>Stefano Roddaro</cp:lastModifiedBy>
  <cp:revision>70</cp:revision>
  <dcterms:created xsi:type="dcterms:W3CDTF">2021-09-26T08:06:39Z</dcterms:created>
  <dcterms:modified xsi:type="dcterms:W3CDTF">2025-09-25T23:42:22Z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0x010100528AC4C99236CE4EA39416E42A80A1B0</vt:lpwstr>
  </property>
</Properties>
</file>